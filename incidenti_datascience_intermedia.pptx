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66" r:id="rId4"/>
    <p:sldId id="267" r:id="rId5"/>
    <p:sldId id="268" r:id="rId6"/>
    <p:sldId id="269" r:id="rId7"/>
    <p:sldId id="270" r:id="rId8"/>
    <p:sldId id="271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E54"/>
    <a:srgbClr val="191F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752"/>
    <p:restoredTop sz="54929"/>
  </p:normalViewPr>
  <p:slideViewPr>
    <p:cSldViewPr snapToGrid="0" snapToObjects="1">
      <p:cViewPr varScale="1">
        <p:scale>
          <a:sx n="46" d="100"/>
          <a:sy n="46" d="100"/>
        </p:scale>
        <p:origin x="176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894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EC2BB-15E5-FA21-75EB-A7D786CDA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F71E0-2931-6CF8-7F16-2C339DF11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78643-588C-6796-7372-293632591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migliora</a:t>
            </a:r>
            <a:r>
              <a:rPr lang="en-US" dirty="0"/>
              <a:t> il bin </a:t>
            </a:r>
            <a:r>
              <a:rPr lang="en-US" dirty="0" err="1"/>
              <a:t>orario</a:t>
            </a:r>
            <a:r>
              <a:rPr lang="en-US" dirty="0"/>
              <a:t>,</a:t>
            </a:r>
          </a:p>
          <a:p>
            <a:r>
              <a:rPr lang="en-US" dirty="0"/>
              <a:t>cambia </a:t>
            </a:r>
            <a:r>
              <a:rPr lang="en-US" dirty="0" err="1"/>
              <a:t>ordine</a:t>
            </a:r>
            <a:r>
              <a:rPr lang="en-US" dirty="0"/>
              <a:t> </a:t>
            </a:r>
            <a:r>
              <a:rPr lang="en-US" dirty="0" err="1"/>
              <a:t>giorni</a:t>
            </a:r>
            <a:r>
              <a:rPr lang="en-US" dirty="0"/>
              <a:t> </a:t>
            </a:r>
            <a:r>
              <a:rPr lang="en-US" dirty="0" err="1"/>
              <a:t>lunedi-domenica</a:t>
            </a:r>
            <a:r>
              <a:rPr lang="en-US" dirty="0"/>
              <a:t> al </a:t>
            </a:r>
            <a:r>
              <a:rPr lang="en-US" dirty="0" err="1"/>
              <a:t>contrario</a:t>
            </a:r>
            <a:r>
              <a:rPr lang="en-US" dirty="0"/>
              <a:t>! - cambia lingua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facciamo</a:t>
            </a:r>
            <a:r>
              <a:rPr lang="en-US" dirty="0"/>
              <a:t> un </a:t>
            </a:r>
            <a:r>
              <a:rPr lang="en-US" dirty="0" err="1"/>
              <a:t>controllo</a:t>
            </a:r>
            <a:r>
              <a:rPr lang="en-US" dirty="0"/>
              <a:t> </a:t>
            </a:r>
            <a:r>
              <a:rPr lang="en-US" dirty="0" err="1"/>
              <a:t>incidenti</a:t>
            </a:r>
            <a:r>
              <a:rPr lang="en-US" dirty="0"/>
              <a:t> 260 ogni </a:t>
            </a:r>
            <a:r>
              <a:rPr lang="en-US" dirty="0" err="1"/>
              <a:t>quanto</a:t>
            </a:r>
            <a:r>
              <a:rPr lang="en-US" dirty="0"/>
              <a:t> </a:t>
            </a:r>
            <a:r>
              <a:rPr lang="en-US" dirty="0" err="1"/>
              <a:t>giorno</a:t>
            </a:r>
            <a:r>
              <a:rPr lang="en-US" dirty="0"/>
              <a:t>?? mese??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heatmap solo </a:t>
            </a:r>
            <a:r>
              <a:rPr lang="en-US" dirty="0" err="1"/>
              <a:t>incidenti</a:t>
            </a:r>
            <a:r>
              <a:rPr lang="en-US" dirty="0"/>
              <a:t> molto </a:t>
            </a:r>
            <a:r>
              <a:rPr lang="en-US" dirty="0" err="1"/>
              <a:t>gravi</a:t>
            </a:r>
            <a:r>
              <a:rPr lang="en-US" dirty="0"/>
              <a:t> o </a:t>
            </a:r>
            <a:r>
              <a:rPr lang="en-US" dirty="0" err="1"/>
              <a:t>mortali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7CF96-787A-C50B-B4ED-03886E0E8A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4D0FB-CC94-02BB-387C-5A3DEBCCD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0D68A-5DB6-B53D-F01F-542BC642F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71D824-4578-FE99-7B1D-67D36EE9E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7C69F-F6E1-37DD-DBFA-B57E3EC04C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36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3F784-198E-F14C-64D2-CBE31D1B4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41179-F7F6-87AB-3D83-549132A68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5BBB0-35D6-48D9-AA1B-8A3CB76EF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Fare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piccoli</a:t>
            </a:r>
            <a:r>
              <a:rPr lang="en-US" dirty="0"/>
              <a:t> solo </a:t>
            </a:r>
            <a:r>
              <a:rPr lang="en-US" dirty="0" err="1"/>
              <a:t>danni</a:t>
            </a:r>
            <a:r>
              <a:rPr lang="en-US" dirty="0"/>
              <a:t> </a:t>
            </a:r>
            <a:r>
              <a:rPr lang="en-US" dirty="0" err="1"/>
              <a:t>materiali</a:t>
            </a:r>
            <a:r>
              <a:rPr lang="en-US" dirty="0"/>
              <a:t>. </a:t>
            </a:r>
            <a:r>
              <a:rPr lang="en-US" dirty="0" err="1"/>
              <a:t>devono</a:t>
            </a:r>
            <a:r>
              <a:rPr lang="en-US" dirty="0"/>
              <a:t> </a:t>
            </a:r>
            <a:r>
              <a:rPr lang="en-US" dirty="0" err="1"/>
              <a:t>risaltare</a:t>
            </a:r>
            <a:r>
              <a:rPr lang="en-US" dirty="0"/>
              <a:t> </a:t>
            </a:r>
            <a:r>
              <a:rPr lang="en-US" dirty="0" err="1"/>
              <a:t>quelli</a:t>
            </a:r>
            <a:r>
              <a:rPr lang="en-US" dirty="0"/>
              <a:t> </a:t>
            </a:r>
            <a:r>
              <a:rPr lang="en-US" dirty="0" err="1"/>
              <a:t>importanti</a:t>
            </a:r>
            <a:r>
              <a:rPr lang="en-US" dirty="0"/>
              <a:t>, </a:t>
            </a:r>
            <a:r>
              <a:rPr lang="en-US" dirty="0" err="1"/>
              <a:t>modifica</a:t>
            </a:r>
            <a:r>
              <a:rPr lang="en-US" dirty="0"/>
              <a:t> grandezza con </a:t>
            </a:r>
            <a:r>
              <a:rPr lang="en-US" dirty="0" err="1"/>
              <a:t>dimensione</a:t>
            </a:r>
            <a:r>
              <a:rPr lang="en-US" dirty="0"/>
              <a:t>, </a:t>
            </a:r>
            <a:r>
              <a:rPr lang="en-US" dirty="0" err="1"/>
              <a:t>aggiungi</a:t>
            </a:r>
            <a:r>
              <a:rPr lang="en-US" dirty="0"/>
              <a:t> video per fare </a:t>
            </a:r>
            <a:r>
              <a:rPr lang="en-US" dirty="0" err="1"/>
              <a:t>vedere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96551-BCA8-8164-F5CA-D536674AEE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60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1926D-3A76-3C00-9827-C645CCC9E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A2960-F7A3-EB5C-903C-5C046B908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C1DD8-3C6F-5346-55C4-53EB37146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 </a:t>
            </a:r>
            <a:r>
              <a:rPr lang="en-US" dirty="0" err="1"/>
              <a:t>notare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la </a:t>
            </a:r>
            <a:r>
              <a:rPr lang="en-US" dirty="0" err="1"/>
              <a:t>strada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 in </a:t>
            </a:r>
            <a:r>
              <a:rPr lang="en-US" dirty="0" err="1"/>
              <a:t>percentuale</a:t>
            </a:r>
            <a:r>
              <a:rPr lang="en-US" dirty="0"/>
              <a:t> ha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morti</a:t>
            </a:r>
            <a:r>
              <a:rPr lang="en-US" dirty="0"/>
              <a:t> rispetto alla </a:t>
            </a:r>
            <a:r>
              <a:rPr lang="en-US" dirty="0" err="1"/>
              <a:t>secondaria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Fai 2 plot in uno </a:t>
            </a:r>
            <a:r>
              <a:rPr lang="en-US" dirty="0" err="1"/>
              <a:t>comparazione</a:t>
            </a:r>
            <a:r>
              <a:rPr lang="en-US" dirty="0"/>
              <a:t>, uno </a:t>
            </a:r>
            <a:r>
              <a:rPr lang="en-US" dirty="0" err="1"/>
              <a:t>così</a:t>
            </a:r>
            <a:r>
              <a:rPr lang="en-US" dirty="0"/>
              <a:t> e uno in </a:t>
            </a:r>
            <a:r>
              <a:rPr lang="en-US" dirty="0" err="1"/>
              <a:t>percentiale</a:t>
            </a:r>
            <a:r>
              <a:rPr lang="en-US" dirty="0"/>
              <a:t> a far </a:t>
            </a:r>
            <a:r>
              <a:rPr lang="en-US" dirty="0" err="1"/>
              <a:t>vedere</a:t>
            </a:r>
            <a:r>
              <a:rPr lang="en-US" dirty="0"/>
              <a:t> la </a:t>
            </a:r>
            <a:r>
              <a:rPr lang="en-US" dirty="0" err="1"/>
              <a:t>differenza</a:t>
            </a:r>
            <a:r>
              <a:rPr lang="en-US" dirty="0"/>
              <a:t> per ogni </a:t>
            </a:r>
            <a:r>
              <a:rPr lang="en-US" dirty="0" err="1"/>
              <a:t>categoria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una</a:t>
            </a:r>
            <a:r>
              <a:rPr lang="en-US" dirty="0"/>
              <a:t> barra da 0 - 100 per ogni divisa in 4 parti per far </a:t>
            </a:r>
            <a:r>
              <a:rPr lang="en-US" dirty="0" err="1"/>
              <a:t>vedere</a:t>
            </a:r>
            <a:r>
              <a:rPr lang="en-US" dirty="0"/>
              <a:t> la vera </a:t>
            </a:r>
            <a:r>
              <a:rPr lang="en-US" dirty="0" err="1"/>
              <a:t>differenza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incidenti</a:t>
            </a:r>
            <a:r>
              <a:rPr lang="en-US" dirty="0"/>
              <a:t> sempre tutti </a:t>
            </a:r>
            <a:r>
              <a:rPr lang="en-US" dirty="0" err="1"/>
              <a:t>all'anno</a:t>
            </a:r>
            <a:r>
              <a:rPr lang="en-US" dirty="0"/>
              <a:t>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DC563-AD5C-A4C9-DE18-43BCF68B9E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13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1EEEF-D18E-1800-817D-3E8AED873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7C0C3-7D37-0873-E29F-BEE34B123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0A8B2-7B37-572B-37D6-EC3AD59A3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possiamo</a:t>
            </a:r>
            <a:r>
              <a:rPr lang="en-US" dirty="0"/>
              <a:t> fare la </a:t>
            </a:r>
            <a:r>
              <a:rPr lang="en-US" dirty="0" err="1"/>
              <a:t>stessa</a:t>
            </a:r>
            <a:r>
              <a:rPr lang="en-US" dirty="0"/>
              <a:t> </a:t>
            </a:r>
            <a:r>
              <a:rPr lang="en-US" dirty="0" err="1"/>
              <a:t>cosa</a:t>
            </a:r>
            <a:r>
              <a:rPr lang="en-US" dirty="0"/>
              <a:t> della slide </a:t>
            </a:r>
            <a:r>
              <a:rPr lang="en-US" dirty="0" err="1"/>
              <a:t>precedente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cambia </a:t>
            </a:r>
            <a:r>
              <a:rPr lang="en-US" dirty="0" err="1"/>
              <a:t>indice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3FF63-267E-0D83-0D51-D32D9FB6F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67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261B7-4F1D-F646-E7A7-A2C38F1B1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53A806-2B26-F9DA-7512-83CE77728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7724F-0E4A-3384-8435-3C99F1734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Uguale</a:t>
            </a:r>
            <a:r>
              <a:rPr lang="en-US" dirty="0"/>
              <a:t> a quelle di </a:t>
            </a:r>
            <a:r>
              <a:rPr lang="en-US" dirty="0" err="1"/>
              <a:t>priuma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CBF8E-FA28-F0CA-2EA9-02238EC71F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31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E83D-6462-ABDA-A672-79D84F705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6D0E1-FDFB-921F-8315-CF404B672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C2DCB-B92F-808D-3FEF-9C007B737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Rimuovi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magari</a:t>
            </a:r>
            <a:r>
              <a:rPr lang="en-US" dirty="0"/>
              <a:t> </a:t>
            </a:r>
            <a:r>
              <a:rPr lang="en-US" dirty="0" err="1"/>
              <a:t>qualcosa</a:t>
            </a:r>
            <a:r>
              <a:rPr lang="en-US" dirty="0"/>
              <a:t> di </a:t>
            </a:r>
            <a:r>
              <a:rPr lang="en-US" dirty="0" err="1"/>
              <a:t>creativo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4B73B-3983-0D14-B6D7-1B2190142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99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38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degli Incidenti Stradali</a:t>
            </a:r>
          </a:p>
          <a:p>
            <a:pPr algn="ctr"/>
            <a:r>
              <a:rPr lang="it-IT" noProof="1">
                <a:solidFill>
                  <a:schemeClr val="bg1">
                    <a:lumMod val="85000"/>
                  </a:schemeClr>
                </a:solidFill>
              </a:rPr>
              <a:t>Cantone Basilea Città - opendata.swiss – MeteoSwiss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2148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2200" noProof="1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br>
              <a:rPr lang="it-IT" sz="2200" noProof="1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it-IT" sz="1600" noProof="1">
                <a:solidFill>
                  <a:srgbClr val="F5A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Pezzolla &amp; Giovanni Russo</a:t>
            </a:r>
            <a:endParaRPr lang="it-IT" sz="2200" noProof="1">
              <a:solidFill>
                <a:srgbClr val="F5AE54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6" name="Text 4"/>
          <p:cNvSpPr/>
          <p:nvPr/>
        </p:nvSpPr>
        <p:spPr>
          <a:xfrm>
            <a:off x="365760" y="29718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300" noProof="1">
                <a:solidFill>
                  <a:srgbClr val="9BA3C2"/>
                </a:solidFill>
              </a:rPr>
              <a:t>Dataset: Incidenti stradali –  2011 – 2024 </a:t>
            </a:r>
            <a:endParaRPr lang="it-IT" sz="1300" noProof="1"/>
          </a:p>
        </p:txBody>
      </p:sp>
      <p:sp>
        <p:nvSpPr>
          <p:cNvPr id="7" name="Shape 5"/>
          <p:cNvSpPr/>
          <p:nvPr/>
        </p:nvSpPr>
        <p:spPr>
          <a:xfrm>
            <a:off x="1005840" y="3657600"/>
            <a:ext cx="2194560" cy="86868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it-IT" sz="2600" b="1" noProof="1">
                <a:solidFill>
                  <a:srgbClr val="E84855"/>
                </a:solidFill>
              </a:rPr>
              <a:t>11.383</a:t>
            </a:r>
            <a:endParaRPr lang="it-IT" sz="2600" noProof="1"/>
          </a:p>
        </p:txBody>
      </p:sp>
      <p:sp>
        <p:nvSpPr>
          <p:cNvPr id="9" name="Text 7"/>
          <p:cNvSpPr/>
          <p:nvPr/>
        </p:nvSpPr>
        <p:spPr>
          <a:xfrm>
            <a:off x="1005840" y="4133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100" noProof="1">
                <a:solidFill>
                  <a:srgbClr val="9BA3C2"/>
                </a:solidFill>
              </a:rPr>
              <a:t>Record totali</a:t>
            </a:r>
            <a:endParaRPr lang="it-IT" sz="1100" noProof="1"/>
          </a:p>
        </p:txBody>
      </p:sp>
      <p:sp>
        <p:nvSpPr>
          <p:cNvPr id="10" name="Shape 8"/>
          <p:cNvSpPr/>
          <p:nvPr/>
        </p:nvSpPr>
        <p:spPr>
          <a:xfrm>
            <a:off x="3566160" y="3657600"/>
            <a:ext cx="2194560" cy="86868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1" name="Text 9"/>
          <p:cNvSpPr/>
          <p:nvPr/>
        </p:nvSpPr>
        <p:spPr>
          <a:xfrm>
            <a:off x="356616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it-IT" sz="2600" b="1" noProof="1">
                <a:solidFill>
                  <a:srgbClr val="E84855"/>
                </a:solidFill>
              </a:rPr>
              <a:t>14</a:t>
            </a:r>
            <a:endParaRPr lang="it-IT" sz="2600" noProof="1"/>
          </a:p>
        </p:txBody>
      </p:sp>
      <p:sp>
        <p:nvSpPr>
          <p:cNvPr id="12" name="Text 10"/>
          <p:cNvSpPr/>
          <p:nvPr/>
        </p:nvSpPr>
        <p:spPr>
          <a:xfrm>
            <a:off x="3566160" y="4133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100" noProof="1">
                <a:solidFill>
                  <a:srgbClr val="9BA3C2"/>
                </a:solidFill>
              </a:rPr>
              <a:t>Anni coperti</a:t>
            </a:r>
            <a:endParaRPr lang="it-IT" sz="1100" noProof="1"/>
          </a:p>
        </p:txBody>
      </p:sp>
      <p:sp>
        <p:nvSpPr>
          <p:cNvPr id="13" name="Shape 11"/>
          <p:cNvSpPr/>
          <p:nvPr/>
        </p:nvSpPr>
        <p:spPr>
          <a:xfrm>
            <a:off x="6126480" y="3657600"/>
            <a:ext cx="2194560" cy="86868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14" name="Text 12"/>
          <p:cNvSpPr/>
          <p:nvPr/>
        </p:nvSpPr>
        <p:spPr>
          <a:xfrm>
            <a:off x="612648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it-IT" sz="2600" b="1" noProof="1">
                <a:solidFill>
                  <a:srgbClr val="E84855"/>
                </a:solidFill>
              </a:rPr>
              <a:t>13</a:t>
            </a:r>
            <a:endParaRPr lang="it-IT" sz="2600" noProof="1"/>
          </a:p>
        </p:txBody>
      </p:sp>
      <p:sp>
        <p:nvSpPr>
          <p:cNvPr id="15" name="Text 13"/>
          <p:cNvSpPr/>
          <p:nvPr/>
        </p:nvSpPr>
        <p:spPr>
          <a:xfrm>
            <a:off x="6126480" y="4133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100" noProof="1">
                <a:solidFill>
                  <a:srgbClr val="9BA3C2"/>
                </a:solidFill>
              </a:rPr>
              <a:t>Variabili</a:t>
            </a:r>
            <a:endParaRPr lang="it-IT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69B89-3F19-7437-4463-BA81870DE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5352CA86-BB9D-DD6D-83D5-B7927083E4AE}"/>
              </a:ext>
            </a:extLst>
          </p:cNvPr>
          <p:cNvSpPr/>
          <p:nvPr/>
        </p:nvSpPr>
        <p:spPr>
          <a:xfrm>
            <a:off x="-1" y="621792"/>
            <a:ext cx="9144000" cy="4615226"/>
          </a:xfrm>
          <a:prstGeom prst="rect">
            <a:avLst/>
          </a:prstGeom>
          <a:solidFill>
            <a:srgbClr val="191F3A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5C49541-E982-CA74-71E3-01DE614C6B2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CBC422-F8D0-5C5C-DF29-E17D5AC3766D}"/>
              </a:ext>
            </a:extLst>
          </p:cNvPr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400" b="1" noProof="1">
                <a:solidFill>
                  <a:srgbClr val="FFFFFF"/>
                </a:solidFill>
              </a:rPr>
              <a:t>Mappa di calore</a:t>
            </a:r>
            <a:endParaRPr lang="it-IT" sz="2400" noProof="1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F48F2441-C904-7AF3-C2DF-37D134004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06" y="685800"/>
            <a:ext cx="7641388" cy="455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8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65914-8C03-751C-FA87-20D2B733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45A5C8D0-E5EE-0413-4420-4D8CEB482A94}"/>
              </a:ext>
            </a:extLst>
          </p:cNvPr>
          <p:cNvSpPr/>
          <p:nvPr/>
        </p:nvSpPr>
        <p:spPr>
          <a:xfrm>
            <a:off x="-1" y="621792"/>
            <a:ext cx="9144000" cy="4615226"/>
          </a:xfrm>
          <a:prstGeom prst="rect">
            <a:avLst/>
          </a:prstGeom>
          <a:solidFill>
            <a:srgbClr val="191F3A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7D985BE-3AA1-9B13-D82F-1745C858425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DC7119-D7D4-7504-8B43-F6E1E98AA335}"/>
              </a:ext>
            </a:extLst>
          </p:cNvPr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400" b="1" noProof="1">
                <a:solidFill>
                  <a:srgbClr val="FFFFFF"/>
                </a:solidFill>
              </a:rPr>
              <a:t>Distribuzione Gravità incidente</a:t>
            </a:r>
            <a:endParaRPr lang="it-IT" sz="2400" noProof="1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8B6D9D3-641E-C241-2ECF-C141BC39D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62" y="758952"/>
            <a:ext cx="8328276" cy="431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528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A136F-39B5-A6D7-4FBE-10557B4B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3BB19ADB-48DD-F9A8-F6EA-65C57C68A785}"/>
              </a:ext>
            </a:extLst>
          </p:cNvPr>
          <p:cNvSpPr/>
          <p:nvPr/>
        </p:nvSpPr>
        <p:spPr>
          <a:xfrm>
            <a:off x="-1" y="621792"/>
            <a:ext cx="9144000" cy="4615226"/>
          </a:xfrm>
          <a:prstGeom prst="rect">
            <a:avLst/>
          </a:prstGeom>
          <a:solidFill>
            <a:srgbClr val="191F3A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9EFF019-13D1-50F1-4938-9F4D67F1308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6A6C49-ED34-9FE7-EF9D-5CC1F6BB10A7}"/>
              </a:ext>
            </a:extLst>
          </p:cNvPr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400" b="1" noProof="1">
                <a:solidFill>
                  <a:srgbClr val="FFFFFF"/>
                </a:solidFill>
              </a:rPr>
              <a:t>Cartina Basilea-Città, incidenti per gravità</a:t>
            </a:r>
            <a:endParaRPr lang="it-IT" sz="2400" noProof="1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CBB71A3-7ADE-EC94-48C6-3AA81D056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753431"/>
            <a:ext cx="7772400" cy="435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91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98AE1-A156-3D16-EEAE-6BB4AD8A3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D50F011E-C12B-7860-CE08-B09C50C928AC}"/>
              </a:ext>
            </a:extLst>
          </p:cNvPr>
          <p:cNvSpPr/>
          <p:nvPr/>
        </p:nvSpPr>
        <p:spPr>
          <a:xfrm>
            <a:off x="-1" y="621792"/>
            <a:ext cx="9144000" cy="4615226"/>
          </a:xfrm>
          <a:prstGeom prst="rect">
            <a:avLst/>
          </a:prstGeom>
          <a:solidFill>
            <a:srgbClr val="191F3A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F6E823A-3888-4A08-1EFE-1416C14A6D7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859117-3A06-9557-0627-7DC5F8D5F849}"/>
              </a:ext>
            </a:extLst>
          </p:cNvPr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400" b="1" noProof="1">
                <a:solidFill>
                  <a:srgbClr val="FFFFFF"/>
                </a:solidFill>
              </a:rPr>
              <a:t>Correlazione tipo strada – gravità incidente</a:t>
            </a:r>
            <a:endParaRPr lang="it-IT" sz="2400" noProof="1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FFE9764-4BBE-3C22-DF7A-703CFE2C9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758952"/>
            <a:ext cx="7772400" cy="419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077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FD023-F2C2-E172-F144-A21C40767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8070A522-AB1A-5A14-AA26-D120755119D1}"/>
              </a:ext>
            </a:extLst>
          </p:cNvPr>
          <p:cNvSpPr/>
          <p:nvPr/>
        </p:nvSpPr>
        <p:spPr>
          <a:xfrm>
            <a:off x="-1" y="621792"/>
            <a:ext cx="9144000" cy="4615226"/>
          </a:xfrm>
          <a:prstGeom prst="rect">
            <a:avLst/>
          </a:prstGeom>
          <a:solidFill>
            <a:srgbClr val="191F3A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3DF7D09-D43B-4FDD-D0E3-6CD8D1DB28D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C936DF-A91D-A4EC-1217-895072280D42}"/>
              </a:ext>
            </a:extLst>
          </p:cNvPr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400" b="1" noProof="1">
                <a:solidFill>
                  <a:srgbClr val="FFFFFF"/>
                </a:solidFill>
              </a:rPr>
              <a:t>Gravità incidenti, con bici, moto e pedoni</a:t>
            </a:r>
            <a:endParaRPr lang="it-IT" sz="2400" noProof="1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9CE61DA-751E-4EB6-9B44-B5F8AF46E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758952"/>
            <a:ext cx="7772400" cy="413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308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F81DD-526A-49F4-B899-420EE70EB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C7A6FEEE-0AC1-E455-1013-263A96F18347}"/>
              </a:ext>
            </a:extLst>
          </p:cNvPr>
          <p:cNvSpPr/>
          <p:nvPr/>
        </p:nvSpPr>
        <p:spPr>
          <a:xfrm>
            <a:off x="-1" y="621792"/>
            <a:ext cx="9144000" cy="4615226"/>
          </a:xfrm>
          <a:prstGeom prst="rect">
            <a:avLst/>
          </a:prstGeom>
          <a:solidFill>
            <a:srgbClr val="191F3A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C9406E1-B104-132F-E713-22579D7BEC4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2C5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8D3F37-F243-A8C1-18C6-8E023891436C}"/>
              </a:ext>
            </a:extLst>
          </p:cNvPr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400" b="1" noProof="1">
                <a:solidFill>
                  <a:srgbClr val="FFFFFF"/>
                </a:solidFill>
              </a:rPr>
              <a:t>Incidenti solo auto vs pedoni, moto e bici coinvolte </a:t>
            </a:r>
            <a:endParaRPr lang="it-IT" sz="2400" noProof="1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95B2A7E-63A6-59F9-DF34-7A19DAE1A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758952"/>
            <a:ext cx="7772400" cy="422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65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98F76-9621-39BD-9438-92B097BD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1A3B06B8-792C-BC4C-ED4F-BA84681CF6E7}"/>
              </a:ext>
            </a:extLst>
          </p:cNvPr>
          <p:cNvSpPr/>
          <p:nvPr/>
        </p:nvSpPr>
        <p:spPr>
          <a:xfrm>
            <a:off x="-1" y="621792"/>
            <a:ext cx="9144000" cy="461522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2CADD70-7A7D-D522-01DA-6BBAE79BEAF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E5C415-E9C4-69D5-6D68-B00C2349C886}"/>
              </a:ext>
            </a:extLst>
          </p:cNvPr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2400" b="1" noProof="1">
                <a:solidFill>
                  <a:srgbClr val="FFFFFF"/>
                </a:solidFill>
              </a:rPr>
              <a:t>Challange – trend estate inverno</a:t>
            </a:r>
            <a:endParaRPr lang="it-IT" sz="2400" noProof="1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8833B2D-BDE2-3CED-3FD8-A6835B50C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5" y="981339"/>
            <a:ext cx="8822870" cy="389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02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42A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it-IT" noProof="1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3800" b="1" noProof="1">
                <a:solidFill>
                  <a:srgbClr val="FFFFFF"/>
                </a:solidFill>
              </a:rPr>
              <a:t>Un Dataset, Infinite Storie</a:t>
            </a:r>
            <a:endParaRPr lang="it-IT" sz="3800" noProof="1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700" noProof="1">
                <a:solidFill>
                  <a:srgbClr val="F2C14E"/>
                </a:solidFill>
              </a:rPr>
              <a:t>Ogni record è un incidente reale. L'analisi dei dati può contribuire</a:t>
            </a:r>
            <a:endParaRPr lang="it-IT" sz="1700" noProof="1"/>
          </a:p>
          <a:p>
            <a:pPr marL="0" indent="0" algn="ctr">
              <a:buNone/>
            </a:pPr>
            <a:r>
              <a:rPr lang="it-IT" sz="1700" noProof="1">
                <a:solidFill>
                  <a:srgbClr val="F2C14E"/>
                </a:solidFill>
              </a:rPr>
              <a:t>a rendere le strade più sicure.</a:t>
            </a:r>
            <a:endParaRPr lang="it-IT" sz="1700" noProof="1"/>
          </a:p>
        </p:txBody>
      </p:sp>
      <p:sp>
        <p:nvSpPr>
          <p:cNvPr id="7" name="Text 5"/>
          <p:cNvSpPr/>
          <p:nvPr/>
        </p:nvSpPr>
        <p:spPr>
          <a:xfrm>
            <a:off x="1828800" y="31043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300" noProof="1">
                <a:solidFill>
                  <a:srgbClr val="E8ECF4"/>
                </a:solidFill>
              </a:rPr>
              <a:t> Dataset reale, ricco e multi-dimensionale</a:t>
            </a:r>
            <a:endParaRPr lang="it-IT" sz="1300" noProof="1"/>
          </a:p>
        </p:txBody>
      </p:sp>
      <p:sp>
        <p:nvSpPr>
          <p:cNvPr id="8" name="Text 6"/>
          <p:cNvSpPr/>
          <p:nvPr/>
        </p:nvSpPr>
        <p:spPr>
          <a:xfrm>
            <a:off x="1828800" y="345186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300" noProof="1">
                <a:solidFill>
                  <a:srgbClr val="E8ECF4"/>
                </a:solidFill>
              </a:rPr>
              <a:t> Obiettivi chiari: classificazione, clustering, forecasting</a:t>
            </a:r>
            <a:endParaRPr lang="it-IT" sz="1300" noProof="1"/>
          </a:p>
        </p:txBody>
      </p:sp>
      <p:sp>
        <p:nvSpPr>
          <p:cNvPr id="9" name="Text 7"/>
          <p:cNvSpPr/>
          <p:nvPr/>
        </p:nvSpPr>
        <p:spPr>
          <a:xfrm>
            <a:off x="1828800" y="379933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300" noProof="1">
                <a:solidFill>
                  <a:srgbClr val="E8ECF4"/>
                </a:solidFill>
              </a:rPr>
              <a:t> Rilevanza sociale: sicurezza stradale</a:t>
            </a:r>
            <a:endParaRPr lang="it-IT" sz="13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279</Words>
  <Application>Microsoft Macintosh PowerPoint</Application>
  <PresentationFormat>Presentazione su schermo (16:9)</PresentationFormat>
  <Paragraphs>43</Paragraphs>
  <Slides>9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Incidenti Stradali – Progetto Data Science</dc:title>
  <dc:subject>PptxGenJS Presentation</dc:subject>
  <dc:creator>PptxGenJS</dc:creator>
  <cp:lastModifiedBy>Pezzolla Andrea</cp:lastModifiedBy>
  <cp:revision>15</cp:revision>
  <dcterms:created xsi:type="dcterms:W3CDTF">2026-04-13T09:56:12Z</dcterms:created>
  <dcterms:modified xsi:type="dcterms:W3CDTF">2026-04-23T07:09:38Z</dcterms:modified>
</cp:coreProperties>
</file>