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66" r:id="rId4"/>
    <p:sldId id="258" r:id="rId5"/>
    <p:sldId id="264" r:id="rId6"/>
    <p:sldId id="265" r:id="rId7"/>
    <p:sldId id="263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5AE54"/>
    <a:srgbClr val="191F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85"/>
    <p:restoredTop sz="84047"/>
  </p:normalViewPr>
  <p:slideViewPr>
    <p:cSldViewPr snapToGrid="0" snapToObjects="1">
      <p:cViewPr>
        <p:scale>
          <a:sx n="164" d="100"/>
          <a:sy n="164" d="100"/>
        </p:scale>
        <p:origin x="248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278946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err="1"/>
              <a:t>grafico</a:t>
            </a:r>
            <a:r>
              <a:rPr lang="en-US" dirty="0"/>
              <a:t> a torta utile, circa 3 </a:t>
            </a:r>
            <a:r>
              <a:rPr lang="en-US" dirty="0" err="1"/>
              <a:t>incidenti</a:t>
            </a:r>
            <a:r>
              <a:rPr lang="en-US" dirty="0"/>
              <a:t> </a:t>
            </a:r>
            <a:r>
              <a:rPr lang="en-US" dirty="0" err="1"/>
              <a:t>mortali</a:t>
            </a:r>
            <a:r>
              <a:rPr lang="en-US" dirty="0"/>
              <a:t> </a:t>
            </a:r>
            <a:r>
              <a:rPr lang="en-US" dirty="0" err="1"/>
              <a:t>all'anno</a:t>
            </a:r>
            <a:r>
              <a:rPr lang="en-US" dirty="0"/>
              <a:t> o un </a:t>
            </a:r>
            <a:r>
              <a:rPr lang="en-US" dirty="0" err="1"/>
              <a:t>grafico</a:t>
            </a:r>
            <a:r>
              <a:rPr lang="en-US" dirty="0"/>
              <a:t> simile da </a:t>
            </a:r>
            <a:r>
              <a:rPr lang="en-US" dirty="0" err="1"/>
              <a:t>esporre</a:t>
            </a:r>
            <a:endParaRPr lang="en-US" dirty="0"/>
          </a:p>
          <a:p>
            <a:endParaRPr lang="it-CH" dirty="0"/>
          </a:p>
        </p:txBody>
      </p:sp>
    </p:spTree>
    <p:extLst>
      <p:ext uri="{BB962C8B-B14F-4D97-AF65-F5344CB8AC3E}">
        <p14:creationId xmlns:p14="http://schemas.microsoft.com/office/powerpoint/2010/main" val="37570695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8EC2BB-15E5-FA21-75EB-A7D786CDA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4F71E0-2931-6CF8-7F16-2C339DF11F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E78643-588C-6796-7372-2936325918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67CF96-787A-C50B-B4ED-03886E0E8A3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012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82FD92-27CF-58EE-3DE1-59E89ACBD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35497A-7749-56C1-3F93-6FA02ABA64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6F1386-6F4D-D442-A0CE-ABFB8E2FA8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</a:t>
            </a:r>
            <a:r>
              <a:rPr lang="en-US" dirty="0" err="1"/>
              <a:t>Geoscatter</a:t>
            </a:r>
            <a:r>
              <a:rPr lang="en-US" dirty="0"/>
              <a:t> </a:t>
            </a:r>
          </a:p>
          <a:p>
            <a:r>
              <a:rPr lang="en-US" dirty="0"/>
              <a:t>2. Ultima </a:t>
            </a:r>
            <a:r>
              <a:rPr lang="en-US" dirty="0" err="1"/>
              <a:t>cosa</a:t>
            </a:r>
            <a:r>
              <a:rPr lang="en-US" dirty="0"/>
              <a:t> </a:t>
            </a:r>
            <a:r>
              <a:rPr lang="en-US" dirty="0" err="1"/>
              <a:t>facoltativa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scaricare</a:t>
            </a:r>
            <a:r>
              <a:rPr lang="en-US" dirty="0"/>
              <a:t> da </a:t>
            </a:r>
            <a:r>
              <a:rPr lang="en-US" dirty="0" err="1"/>
              <a:t>meteoswiss</a:t>
            </a:r>
            <a:r>
              <a:rPr lang="en-US" dirty="0"/>
              <a:t> le temperature a </a:t>
            </a:r>
            <a:r>
              <a:rPr lang="en-US" dirty="0" err="1"/>
              <a:t>basilea</a:t>
            </a:r>
            <a:r>
              <a:rPr lang="en-US" dirty="0"/>
              <a:t> </a:t>
            </a:r>
            <a:r>
              <a:rPr lang="en-US" dirty="0" err="1"/>
              <a:t>città</a:t>
            </a:r>
            <a:r>
              <a:rPr lang="en-US" dirty="0"/>
              <a:t>, </a:t>
            </a:r>
            <a:r>
              <a:rPr lang="en-US" dirty="0" err="1"/>
              <a:t>vediamo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giorni</a:t>
            </a:r>
            <a:r>
              <a:rPr lang="en-US" dirty="0"/>
              <a:t> di neve e </a:t>
            </a:r>
            <a:r>
              <a:rPr lang="en-US" dirty="0" err="1"/>
              <a:t>facciamo</a:t>
            </a:r>
            <a:r>
              <a:rPr lang="en-US" dirty="0"/>
              <a:t> </a:t>
            </a:r>
            <a:r>
              <a:rPr lang="en-US" dirty="0" err="1"/>
              <a:t>un'analisi</a:t>
            </a:r>
            <a:r>
              <a:rPr lang="en-US" dirty="0"/>
              <a:t> con neve/</a:t>
            </a:r>
            <a:r>
              <a:rPr lang="en-US" dirty="0" err="1"/>
              <a:t>incidenti</a:t>
            </a:r>
            <a:endParaRPr lang="en-US" dirty="0"/>
          </a:p>
          <a:p>
            <a:r>
              <a:rPr lang="en-US" dirty="0"/>
              <a:t>3. </a:t>
            </a:r>
            <a:r>
              <a:rPr lang="en-US" dirty="0" err="1"/>
              <a:t>può</a:t>
            </a:r>
            <a:r>
              <a:rPr lang="en-US" dirty="0"/>
              <a:t> </a:t>
            </a:r>
            <a:r>
              <a:rPr lang="en-US" dirty="0" err="1"/>
              <a:t>essere</a:t>
            </a:r>
            <a:r>
              <a:rPr lang="en-US" dirty="0"/>
              <a:t> </a:t>
            </a:r>
            <a:r>
              <a:rPr lang="en-US" dirty="0" err="1"/>
              <a:t>dovuto</a:t>
            </a:r>
            <a:r>
              <a:rPr lang="en-US" dirty="0"/>
              <a:t> </a:t>
            </a:r>
            <a:r>
              <a:rPr lang="en-US" dirty="0" err="1"/>
              <a:t>anche</a:t>
            </a:r>
            <a:r>
              <a:rPr lang="en-US" dirty="0"/>
              <a:t> a piu ore di </a:t>
            </a:r>
            <a:r>
              <a:rPr lang="en-US" dirty="0" err="1"/>
              <a:t>buio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2B74B5-845D-99BD-49C4-47A56B1861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11834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84855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3" name="Text 1"/>
          <p:cNvSpPr/>
          <p:nvPr/>
        </p:nvSpPr>
        <p:spPr>
          <a:xfrm>
            <a:off x="365760" y="1097280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it-IT" sz="38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 degli Incidenti Stradali</a:t>
            </a:r>
          </a:p>
          <a:p>
            <a:pPr algn="ctr"/>
            <a:r>
              <a:rPr lang="it-IT" noProof="1">
                <a:solidFill>
                  <a:schemeClr val="bg1">
                    <a:lumMod val="85000"/>
                  </a:schemeClr>
                </a:solidFill>
              </a:rPr>
              <a:t>Cantone Basilea Città - opendata.swiss</a:t>
            </a:r>
          </a:p>
        </p:txBody>
      </p:sp>
      <p:sp>
        <p:nvSpPr>
          <p:cNvPr id="4" name="Text 2"/>
          <p:cNvSpPr/>
          <p:nvPr/>
        </p:nvSpPr>
        <p:spPr>
          <a:xfrm>
            <a:off x="365760" y="214884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it-IT" sz="2200" noProof="1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</a:t>
            </a:r>
            <a:br>
              <a:rPr lang="it-IT" sz="2200" noProof="1">
                <a:solidFill>
                  <a:srgbClr val="F2C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it-IT" sz="1600" noProof="1">
                <a:solidFill>
                  <a:srgbClr val="F5A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Andrea Pezzolla &amp; Giovanni Russo</a:t>
            </a:r>
            <a:endParaRPr lang="it-IT" sz="2200" noProof="1">
              <a:solidFill>
                <a:srgbClr val="F5AE54"/>
              </a:solidFill>
            </a:endParaRPr>
          </a:p>
        </p:txBody>
      </p:sp>
      <p:sp>
        <p:nvSpPr>
          <p:cNvPr id="5" name="Shape 3"/>
          <p:cNvSpPr/>
          <p:nvPr/>
        </p:nvSpPr>
        <p:spPr>
          <a:xfrm>
            <a:off x="3200400" y="2788920"/>
            <a:ext cx="2743200" cy="36576"/>
          </a:xfrm>
          <a:prstGeom prst="rect">
            <a:avLst/>
          </a:prstGeom>
          <a:solidFill>
            <a:srgbClr val="E84855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6" name="Text 4"/>
          <p:cNvSpPr/>
          <p:nvPr/>
        </p:nvSpPr>
        <p:spPr>
          <a:xfrm>
            <a:off x="365760" y="297180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it-IT" sz="1300" noProof="1">
                <a:solidFill>
                  <a:srgbClr val="9BA3C2"/>
                </a:solidFill>
              </a:rPr>
              <a:t>Dataset: Incidenti stradali –  2011 – 2024 </a:t>
            </a:r>
            <a:endParaRPr lang="it-IT" sz="1300" noProof="1"/>
          </a:p>
        </p:txBody>
      </p:sp>
      <p:sp>
        <p:nvSpPr>
          <p:cNvPr id="7" name="Shape 5"/>
          <p:cNvSpPr/>
          <p:nvPr/>
        </p:nvSpPr>
        <p:spPr>
          <a:xfrm>
            <a:off x="1005840" y="3657600"/>
            <a:ext cx="2194560" cy="868680"/>
          </a:xfrm>
          <a:prstGeom prst="rect">
            <a:avLst/>
          </a:prstGeom>
          <a:solidFill>
            <a:srgbClr val="252C56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8" name="Text 6"/>
          <p:cNvSpPr/>
          <p:nvPr/>
        </p:nvSpPr>
        <p:spPr>
          <a:xfrm>
            <a:off x="1005840" y="365760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it-IT" sz="2600" b="1" noProof="1">
                <a:solidFill>
                  <a:srgbClr val="E84855"/>
                </a:solidFill>
              </a:rPr>
              <a:t>11.383</a:t>
            </a:r>
            <a:endParaRPr lang="it-IT" sz="2600" noProof="1"/>
          </a:p>
        </p:txBody>
      </p:sp>
      <p:sp>
        <p:nvSpPr>
          <p:cNvPr id="9" name="Text 7"/>
          <p:cNvSpPr/>
          <p:nvPr/>
        </p:nvSpPr>
        <p:spPr>
          <a:xfrm>
            <a:off x="1005840" y="413308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it-IT" sz="1100" noProof="1">
                <a:solidFill>
                  <a:srgbClr val="9BA3C2"/>
                </a:solidFill>
              </a:rPr>
              <a:t>Record totali</a:t>
            </a:r>
            <a:endParaRPr lang="it-IT" sz="1100" noProof="1"/>
          </a:p>
        </p:txBody>
      </p:sp>
      <p:sp>
        <p:nvSpPr>
          <p:cNvPr id="10" name="Shape 8"/>
          <p:cNvSpPr/>
          <p:nvPr/>
        </p:nvSpPr>
        <p:spPr>
          <a:xfrm>
            <a:off x="3566160" y="3657600"/>
            <a:ext cx="2194560" cy="868680"/>
          </a:xfrm>
          <a:prstGeom prst="rect">
            <a:avLst/>
          </a:prstGeom>
          <a:solidFill>
            <a:srgbClr val="252C56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11" name="Text 9"/>
          <p:cNvSpPr/>
          <p:nvPr/>
        </p:nvSpPr>
        <p:spPr>
          <a:xfrm>
            <a:off x="3566160" y="365760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it-IT" sz="2600" b="1" noProof="1">
                <a:solidFill>
                  <a:srgbClr val="E84855"/>
                </a:solidFill>
              </a:rPr>
              <a:t>14</a:t>
            </a:r>
            <a:endParaRPr lang="it-IT" sz="2600" noProof="1"/>
          </a:p>
        </p:txBody>
      </p:sp>
      <p:sp>
        <p:nvSpPr>
          <p:cNvPr id="12" name="Text 10"/>
          <p:cNvSpPr/>
          <p:nvPr/>
        </p:nvSpPr>
        <p:spPr>
          <a:xfrm>
            <a:off x="3566160" y="413308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it-IT" sz="1100" noProof="1">
                <a:solidFill>
                  <a:srgbClr val="9BA3C2"/>
                </a:solidFill>
              </a:rPr>
              <a:t>Anni coperti</a:t>
            </a:r>
            <a:endParaRPr lang="it-IT" sz="1100" noProof="1"/>
          </a:p>
        </p:txBody>
      </p:sp>
      <p:sp>
        <p:nvSpPr>
          <p:cNvPr id="13" name="Shape 11"/>
          <p:cNvSpPr/>
          <p:nvPr/>
        </p:nvSpPr>
        <p:spPr>
          <a:xfrm>
            <a:off x="6126480" y="3657600"/>
            <a:ext cx="2194560" cy="868680"/>
          </a:xfrm>
          <a:prstGeom prst="rect">
            <a:avLst/>
          </a:prstGeom>
          <a:solidFill>
            <a:srgbClr val="252C56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14" name="Text 12"/>
          <p:cNvSpPr/>
          <p:nvPr/>
        </p:nvSpPr>
        <p:spPr>
          <a:xfrm>
            <a:off x="6126480" y="365760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it-IT" sz="2600" b="1" noProof="1">
                <a:solidFill>
                  <a:srgbClr val="E84855"/>
                </a:solidFill>
              </a:rPr>
              <a:t>13</a:t>
            </a:r>
            <a:endParaRPr lang="it-IT" sz="2600" noProof="1"/>
          </a:p>
        </p:txBody>
      </p:sp>
      <p:sp>
        <p:nvSpPr>
          <p:cNvPr id="15" name="Text 13"/>
          <p:cNvSpPr/>
          <p:nvPr/>
        </p:nvSpPr>
        <p:spPr>
          <a:xfrm>
            <a:off x="6126480" y="413308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it-IT" sz="1100" noProof="1">
                <a:solidFill>
                  <a:srgbClr val="9BA3C2"/>
                </a:solidFill>
              </a:rPr>
              <a:t>Variabili</a:t>
            </a:r>
            <a:endParaRPr lang="it-IT" sz="1100" noProof="1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52C56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3" name="Text 1"/>
          <p:cNvSpPr/>
          <p:nvPr/>
        </p:nvSpPr>
        <p:spPr>
          <a:xfrm>
            <a:off x="457200" y="731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26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Panoramica del Dataset</a:t>
            </a:r>
            <a:endParaRPr lang="it-IT" sz="2600" noProof="1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4023360" cy="3657600"/>
          </a:xfrm>
          <a:prstGeom prst="rect">
            <a:avLst/>
          </a:prstGeom>
          <a:solidFill>
            <a:srgbClr val="252C56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1600" b="1" noProof="1">
                <a:solidFill>
                  <a:srgbClr val="F2C14E"/>
                </a:solidFill>
              </a:rPr>
              <a:t>Cosa contiene?</a:t>
            </a:r>
            <a:endParaRPr lang="it-IT" sz="1600" noProof="1"/>
          </a:p>
        </p:txBody>
      </p:sp>
      <p:sp>
        <p:nvSpPr>
          <p:cNvPr id="6" name="Text 4"/>
          <p:cNvSpPr/>
          <p:nvPr/>
        </p:nvSpPr>
        <p:spPr>
          <a:xfrm>
            <a:off x="502920" y="1508760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1200" noProof="1">
                <a:solidFill>
                  <a:srgbClr val="E8ECF4"/>
                </a:solidFill>
              </a:rPr>
              <a:t>📍  Coordinate geografiche </a:t>
            </a:r>
            <a:endParaRPr lang="it-IT" sz="1200" noProof="1"/>
          </a:p>
        </p:txBody>
      </p:sp>
      <p:sp>
        <p:nvSpPr>
          <p:cNvPr id="7" name="Text 5"/>
          <p:cNvSpPr/>
          <p:nvPr/>
        </p:nvSpPr>
        <p:spPr>
          <a:xfrm>
            <a:off x="502920" y="1883664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1200" noProof="1">
                <a:solidFill>
                  <a:srgbClr val="E8ECF4"/>
                </a:solidFill>
              </a:rPr>
              <a:t>🆔  ID univoco per ogni incidente</a:t>
            </a:r>
            <a:endParaRPr lang="it-IT" sz="1200" noProof="1"/>
          </a:p>
        </p:txBody>
      </p:sp>
      <p:sp>
        <p:nvSpPr>
          <p:cNvPr id="8" name="Text 6"/>
          <p:cNvSpPr/>
          <p:nvPr/>
        </p:nvSpPr>
        <p:spPr>
          <a:xfrm>
            <a:off x="502920" y="2258568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1200" noProof="1">
                <a:solidFill>
                  <a:srgbClr val="E8ECF4"/>
                </a:solidFill>
              </a:rPr>
              <a:t>🚗  Tipo di incidente (9 categorie)</a:t>
            </a:r>
            <a:endParaRPr lang="it-IT" sz="1200" noProof="1"/>
          </a:p>
        </p:txBody>
      </p:sp>
      <p:sp>
        <p:nvSpPr>
          <p:cNvPr id="9" name="Text 7"/>
          <p:cNvSpPr/>
          <p:nvPr/>
        </p:nvSpPr>
        <p:spPr>
          <a:xfrm>
            <a:off x="502920" y="2633472"/>
            <a:ext cx="3749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1200" noProof="1">
                <a:solidFill>
                  <a:srgbClr val="E8ECF4"/>
                </a:solidFill>
              </a:rPr>
              <a:t>⚠️  Gravità (Nessun ferito / Feriti lievi - gravi / Morti)</a:t>
            </a:r>
            <a:endParaRPr lang="it-IT" sz="1200" noProof="1"/>
          </a:p>
        </p:txBody>
      </p:sp>
      <p:sp>
        <p:nvSpPr>
          <p:cNvPr id="10" name="Text 8"/>
          <p:cNvSpPr/>
          <p:nvPr/>
        </p:nvSpPr>
        <p:spPr>
          <a:xfrm>
            <a:off x="502920" y="3008376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1200" noProof="1">
                <a:solidFill>
                  <a:srgbClr val="E8ECF4"/>
                </a:solidFill>
              </a:rPr>
              <a:t>📅  Anno, Mese, Ora dell'incidente</a:t>
            </a:r>
            <a:endParaRPr lang="it-IT" sz="1200" noProof="1"/>
          </a:p>
        </p:txBody>
      </p:sp>
      <p:sp>
        <p:nvSpPr>
          <p:cNvPr id="11" name="Text 9"/>
          <p:cNvSpPr/>
          <p:nvPr/>
        </p:nvSpPr>
        <p:spPr>
          <a:xfrm>
            <a:off x="502920" y="3383280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1200" noProof="1">
                <a:solidFill>
                  <a:srgbClr val="E8ECF4"/>
                </a:solidFill>
              </a:rPr>
              <a:t>📆  Giorno della settimana</a:t>
            </a:r>
            <a:endParaRPr lang="it-IT" sz="1200" noProof="1"/>
          </a:p>
        </p:txBody>
      </p:sp>
      <p:sp>
        <p:nvSpPr>
          <p:cNvPr id="12" name="Text 10"/>
          <p:cNvSpPr/>
          <p:nvPr/>
        </p:nvSpPr>
        <p:spPr>
          <a:xfrm>
            <a:off x="502920" y="3758184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1200" noProof="1">
                <a:solidFill>
                  <a:srgbClr val="E8ECF4"/>
                </a:solidFill>
              </a:rPr>
              <a:t>🛣️  Tipo di strada (Autobahn, Hauptstrasse…)</a:t>
            </a:r>
            <a:endParaRPr lang="it-IT" sz="1200" noProof="1"/>
          </a:p>
        </p:txBody>
      </p:sp>
      <p:sp>
        <p:nvSpPr>
          <p:cNvPr id="13" name="Text 11"/>
          <p:cNvSpPr/>
          <p:nvPr/>
        </p:nvSpPr>
        <p:spPr>
          <a:xfrm>
            <a:off x="502920" y="4133088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1200" noProof="1">
                <a:solidFill>
                  <a:srgbClr val="E8ECF4"/>
                </a:solidFill>
              </a:rPr>
              <a:t>🚶  Coinvolgimento pedoni / bici / moto</a:t>
            </a:r>
            <a:endParaRPr lang="it-IT" sz="1200" noProof="1"/>
          </a:p>
        </p:txBody>
      </p:sp>
      <p:sp>
        <p:nvSpPr>
          <p:cNvPr id="14" name="Shape 12"/>
          <p:cNvSpPr/>
          <p:nvPr/>
        </p:nvSpPr>
        <p:spPr>
          <a:xfrm>
            <a:off x="4709160" y="914400"/>
            <a:ext cx="4114800" cy="3657600"/>
          </a:xfrm>
          <a:prstGeom prst="rect">
            <a:avLst/>
          </a:prstGeom>
          <a:solidFill>
            <a:srgbClr val="252C56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15" name="Text 13"/>
          <p:cNvSpPr/>
          <p:nvPr/>
        </p:nvSpPr>
        <p:spPr>
          <a:xfrm>
            <a:off x="4846320" y="100584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1600" b="1" noProof="1">
                <a:solidFill>
                  <a:srgbClr val="F2C14E"/>
                </a:solidFill>
              </a:rPr>
              <a:t>Numeri chiave</a:t>
            </a:r>
            <a:endParaRPr lang="it-IT" sz="1600" noProof="1"/>
          </a:p>
        </p:txBody>
      </p:sp>
      <p:sp>
        <p:nvSpPr>
          <p:cNvPr id="16" name="Shape 14"/>
          <p:cNvSpPr/>
          <p:nvPr/>
        </p:nvSpPr>
        <p:spPr>
          <a:xfrm>
            <a:off x="4800600" y="1508760"/>
            <a:ext cx="3840480" cy="548640"/>
          </a:xfrm>
          <a:prstGeom prst="rect">
            <a:avLst/>
          </a:prstGeom>
          <a:solidFill>
            <a:srgbClr val="1E2347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17" name="Text 15"/>
          <p:cNvSpPr/>
          <p:nvPr/>
        </p:nvSpPr>
        <p:spPr>
          <a:xfrm>
            <a:off x="4892040" y="1545336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2000" b="1" noProof="1">
                <a:solidFill>
                  <a:srgbClr val="E84855"/>
                </a:solidFill>
              </a:rPr>
              <a:t>11.383</a:t>
            </a:r>
            <a:endParaRPr lang="it-IT" sz="2000" noProof="1"/>
          </a:p>
        </p:txBody>
      </p:sp>
      <p:sp>
        <p:nvSpPr>
          <p:cNvPr id="18" name="Text 16"/>
          <p:cNvSpPr/>
          <p:nvPr/>
        </p:nvSpPr>
        <p:spPr>
          <a:xfrm>
            <a:off x="6309360" y="1545336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1200" noProof="1">
                <a:solidFill>
                  <a:srgbClr val="E8ECF4"/>
                </a:solidFill>
              </a:rPr>
              <a:t>Incidenti totali</a:t>
            </a:r>
            <a:endParaRPr lang="it-IT" sz="1200" noProof="1"/>
          </a:p>
        </p:txBody>
      </p:sp>
      <p:sp>
        <p:nvSpPr>
          <p:cNvPr id="19" name="Shape 17"/>
          <p:cNvSpPr/>
          <p:nvPr/>
        </p:nvSpPr>
        <p:spPr>
          <a:xfrm>
            <a:off x="4800600" y="2167128"/>
            <a:ext cx="3840480" cy="548640"/>
          </a:xfrm>
          <a:prstGeom prst="rect">
            <a:avLst/>
          </a:prstGeom>
          <a:solidFill>
            <a:srgbClr val="1E2347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20" name="Text 18"/>
          <p:cNvSpPr/>
          <p:nvPr/>
        </p:nvSpPr>
        <p:spPr>
          <a:xfrm>
            <a:off x="4892040" y="2203704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2000" b="1" noProof="1">
                <a:solidFill>
                  <a:srgbClr val="E84855"/>
                </a:solidFill>
              </a:rPr>
              <a:t>6.620</a:t>
            </a:r>
            <a:endParaRPr lang="it-IT" sz="2000" noProof="1"/>
          </a:p>
        </p:txBody>
      </p:sp>
      <p:sp>
        <p:nvSpPr>
          <p:cNvPr id="21" name="Text 19"/>
          <p:cNvSpPr/>
          <p:nvPr/>
        </p:nvSpPr>
        <p:spPr>
          <a:xfrm>
            <a:off x="6309360" y="2203704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1200" noProof="1">
                <a:solidFill>
                  <a:srgbClr val="E8ECF4"/>
                </a:solidFill>
              </a:rPr>
              <a:t>Solo danni materiali (58%)</a:t>
            </a:r>
            <a:endParaRPr lang="it-IT" sz="1200" noProof="1"/>
          </a:p>
        </p:txBody>
      </p:sp>
      <p:sp>
        <p:nvSpPr>
          <p:cNvPr id="22" name="Shape 20"/>
          <p:cNvSpPr/>
          <p:nvPr/>
        </p:nvSpPr>
        <p:spPr>
          <a:xfrm>
            <a:off x="4800600" y="2825496"/>
            <a:ext cx="3840480" cy="548640"/>
          </a:xfrm>
          <a:prstGeom prst="rect">
            <a:avLst/>
          </a:prstGeom>
          <a:solidFill>
            <a:srgbClr val="1E2347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23" name="Text 21"/>
          <p:cNvSpPr/>
          <p:nvPr/>
        </p:nvSpPr>
        <p:spPr>
          <a:xfrm>
            <a:off x="4892040" y="2862072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2000" b="1" noProof="1">
                <a:solidFill>
                  <a:srgbClr val="E84855"/>
                </a:solidFill>
              </a:rPr>
              <a:t>3.422</a:t>
            </a:r>
            <a:endParaRPr lang="it-IT" sz="2000" noProof="1"/>
          </a:p>
        </p:txBody>
      </p:sp>
      <p:sp>
        <p:nvSpPr>
          <p:cNvPr id="24" name="Text 22"/>
          <p:cNvSpPr/>
          <p:nvPr/>
        </p:nvSpPr>
        <p:spPr>
          <a:xfrm>
            <a:off x="6309360" y="2862072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1200" noProof="1">
                <a:solidFill>
                  <a:srgbClr val="E8ECF4"/>
                </a:solidFill>
              </a:rPr>
              <a:t>Con feriti lievi (30%)</a:t>
            </a:r>
            <a:endParaRPr lang="it-IT" sz="1200" noProof="1"/>
          </a:p>
        </p:txBody>
      </p:sp>
      <p:sp>
        <p:nvSpPr>
          <p:cNvPr id="25" name="Shape 23"/>
          <p:cNvSpPr/>
          <p:nvPr/>
        </p:nvSpPr>
        <p:spPr>
          <a:xfrm>
            <a:off x="4800600" y="3483864"/>
            <a:ext cx="3840480" cy="548640"/>
          </a:xfrm>
          <a:prstGeom prst="rect">
            <a:avLst/>
          </a:prstGeom>
          <a:solidFill>
            <a:srgbClr val="1E2347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26" name="Text 24"/>
          <p:cNvSpPr/>
          <p:nvPr/>
        </p:nvSpPr>
        <p:spPr>
          <a:xfrm>
            <a:off x="4892040" y="3520440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2000" b="1" noProof="1">
                <a:solidFill>
                  <a:srgbClr val="E84855"/>
                </a:solidFill>
              </a:rPr>
              <a:t>1.299</a:t>
            </a:r>
            <a:endParaRPr lang="it-IT" sz="2000" noProof="1"/>
          </a:p>
        </p:txBody>
      </p:sp>
      <p:sp>
        <p:nvSpPr>
          <p:cNvPr id="27" name="Text 25"/>
          <p:cNvSpPr/>
          <p:nvPr/>
        </p:nvSpPr>
        <p:spPr>
          <a:xfrm>
            <a:off x="6309360" y="352044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1200" noProof="1">
                <a:solidFill>
                  <a:srgbClr val="E8ECF4"/>
                </a:solidFill>
              </a:rPr>
              <a:t>Con feriti gravi (11%)</a:t>
            </a:r>
            <a:endParaRPr lang="it-IT" sz="1200" noProof="1"/>
          </a:p>
        </p:txBody>
      </p:sp>
      <p:sp>
        <p:nvSpPr>
          <p:cNvPr id="28" name="Shape 26"/>
          <p:cNvSpPr/>
          <p:nvPr/>
        </p:nvSpPr>
        <p:spPr>
          <a:xfrm>
            <a:off x="4800600" y="4142232"/>
            <a:ext cx="3840480" cy="548640"/>
          </a:xfrm>
          <a:prstGeom prst="rect">
            <a:avLst/>
          </a:prstGeom>
          <a:solidFill>
            <a:srgbClr val="1E2347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29" name="Text 27"/>
          <p:cNvSpPr/>
          <p:nvPr/>
        </p:nvSpPr>
        <p:spPr>
          <a:xfrm>
            <a:off x="4892040" y="4178808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2000" b="1" noProof="1">
                <a:solidFill>
                  <a:srgbClr val="E84855"/>
                </a:solidFill>
              </a:rPr>
              <a:t>42</a:t>
            </a:r>
            <a:endParaRPr lang="it-IT" sz="2000" noProof="1"/>
          </a:p>
        </p:txBody>
      </p:sp>
      <p:sp>
        <p:nvSpPr>
          <p:cNvPr id="30" name="Text 28"/>
          <p:cNvSpPr/>
          <p:nvPr/>
        </p:nvSpPr>
        <p:spPr>
          <a:xfrm>
            <a:off x="6309360" y="4178808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1200" noProof="1">
                <a:solidFill>
                  <a:srgbClr val="E8ECF4"/>
                </a:solidFill>
              </a:rPr>
              <a:t>Con esito mortale (&lt;1%)</a:t>
            </a:r>
            <a:endParaRPr lang="it-IT" sz="1200" noProof="1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56452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52C56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3" name="Text 1"/>
          <p:cNvSpPr/>
          <p:nvPr/>
        </p:nvSpPr>
        <p:spPr>
          <a:xfrm>
            <a:off x="457200" y="731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2400" b="1" noProof="1">
                <a:solidFill>
                  <a:srgbClr val="FFFFFF"/>
                </a:solidFill>
              </a:rPr>
              <a:t>Perché è un Ottimo Dataset?</a:t>
            </a:r>
            <a:endParaRPr lang="it-IT" sz="2400" noProof="1"/>
          </a:p>
        </p:txBody>
      </p:sp>
      <p:sp>
        <p:nvSpPr>
          <p:cNvPr id="4" name="Shape 2"/>
          <p:cNvSpPr/>
          <p:nvPr/>
        </p:nvSpPr>
        <p:spPr>
          <a:xfrm>
            <a:off x="274319" y="868680"/>
            <a:ext cx="3930259" cy="1783080"/>
          </a:xfrm>
          <a:prstGeom prst="rect">
            <a:avLst/>
          </a:prstGeom>
          <a:solidFill>
            <a:srgbClr val="252C56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5" name="Shape 3"/>
          <p:cNvSpPr/>
          <p:nvPr/>
        </p:nvSpPr>
        <p:spPr>
          <a:xfrm>
            <a:off x="274320" y="868680"/>
            <a:ext cx="54864" cy="1783080"/>
          </a:xfrm>
          <a:prstGeom prst="rect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6" name="Text 4"/>
          <p:cNvSpPr/>
          <p:nvPr/>
        </p:nvSpPr>
        <p:spPr>
          <a:xfrm>
            <a:off x="411479" y="978408"/>
            <a:ext cx="3613303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b="1" noProof="1">
                <a:solidFill>
                  <a:srgbClr val="F2C14E"/>
                </a:solidFill>
              </a:rPr>
              <a:t> Ricco &amp; Reale</a:t>
            </a:r>
            <a:endParaRPr lang="it-IT" noProof="1"/>
          </a:p>
        </p:txBody>
      </p:sp>
      <p:sp>
        <p:nvSpPr>
          <p:cNvPr id="7" name="Text 5"/>
          <p:cNvSpPr/>
          <p:nvPr/>
        </p:nvSpPr>
        <p:spPr>
          <a:xfrm>
            <a:off x="411479" y="1344168"/>
            <a:ext cx="3613303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1400" noProof="1">
                <a:solidFill>
                  <a:srgbClr val="E8ECF4"/>
                </a:solidFill>
              </a:rPr>
              <a:t>11.000+ record reali su 14 anni. </a:t>
            </a:r>
            <a:br>
              <a:rPr lang="it-IT" sz="1400" noProof="1">
                <a:solidFill>
                  <a:srgbClr val="E8ECF4"/>
                </a:solidFill>
              </a:rPr>
            </a:br>
            <a:r>
              <a:rPr lang="it-IT" sz="1400" noProof="1">
                <a:solidFill>
                  <a:srgbClr val="E8ECF4"/>
                </a:solidFill>
              </a:rPr>
              <a:t>Senza rischi di scarsità di dati.</a:t>
            </a:r>
            <a:endParaRPr lang="it-IT" sz="1400" noProof="1"/>
          </a:p>
        </p:txBody>
      </p:sp>
      <p:sp>
        <p:nvSpPr>
          <p:cNvPr id="8" name="Shape 6"/>
          <p:cNvSpPr/>
          <p:nvPr/>
        </p:nvSpPr>
        <p:spPr>
          <a:xfrm>
            <a:off x="4518874" y="868680"/>
            <a:ext cx="4350806" cy="1783080"/>
          </a:xfrm>
          <a:prstGeom prst="rect">
            <a:avLst/>
          </a:prstGeom>
          <a:solidFill>
            <a:srgbClr val="252C56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9" name="Shape 7"/>
          <p:cNvSpPr/>
          <p:nvPr/>
        </p:nvSpPr>
        <p:spPr>
          <a:xfrm>
            <a:off x="4464010" y="868680"/>
            <a:ext cx="54864" cy="1783080"/>
          </a:xfrm>
          <a:prstGeom prst="rect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10" name="Text 8"/>
          <p:cNvSpPr/>
          <p:nvPr/>
        </p:nvSpPr>
        <p:spPr>
          <a:xfrm>
            <a:off x="4778305" y="978408"/>
            <a:ext cx="39999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b="1" noProof="1">
                <a:solidFill>
                  <a:srgbClr val="F2C14E"/>
                </a:solidFill>
              </a:rPr>
              <a:t> Multi-Dimensionale</a:t>
            </a:r>
            <a:endParaRPr lang="it-IT" noProof="1"/>
          </a:p>
        </p:txBody>
      </p:sp>
      <p:sp>
        <p:nvSpPr>
          <p:cNvPr id="11" name="Text 9"/>
          <p:cNvSpPr/>
          <p:nvPr/>
        </p:nvSpPr>
        <p:spPr>
          <a:xfrm>
            <a:off x="4778305" y="1344168"/>
            <a:ext cx="399993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1400" noProof="1">
                <a:solidFill>
                  <a:srgbClr val="E8ECF4"/>
                </a:solidFill>
              </a:rPr>
              <a:t>Combina dati temporali (ora, giorno, mese, anno), spaziali (coordinate GPS), categoriali e booleani</a:t>
            </a:r>
            <a:endParaRPr lang="it-IT" sz="1400" noProof="1"/>
          </a:p>
        </p:txBody>
      </p:sp>
      <p:sp>
        <p:nvSpPr>
          <p:cNvPr id="16" name="Shape 14"/>
          <p:cNvSpPr/>
          <p:nvPr/>
        </p:nvSpPr>
        <p:spPr>
          <a:xfrm>
            <a:off x="274319" y="2834640"/>
            <a:ext cx="3930259" cy="1783080"/>
          </a:xfrm>
          <a:prstGeom prst="rect">
            <a:avLst/>
          </a:prstGeom>
          <a:solidFill>
            <a:srgbClr val="252C56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17" name="Shape 15"/>
          <p:cNvSpPr/>
          <p:nvPr/>
        </p:nvSpPr>
        <p:spPr>
          <a:xfrm>
            <a:off x="274320" y="2834640"/>
            <a:ext cx="54864" cy="1783080"/>
          </a:xfrm>
          <a:prstGeom prst="rect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18" name="Text 16"/>
          <p:cNvSpPr/>
          <p:nvPr/>
        </p:nvSpPr>
        <p:spPr>
          <a:xfrm>
            <a:off x="411479" y="2944368"/>
            <a:ext cx="3613303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b="1" noProof="1">
                <a:solidFill>
                  <a:srgbClr val="F2C14E"/>
                </a:solidFill>
              </a:rPr>
              <a:t> Dati Geografici</a:t>
            </a:r>
            <a:endParaRPr lang="it-IT" noProof="1"/>
          </a:p>
        </p:txBody>
      </p:sp>
      <p:sp>
        <p:nvSpPr>
          <p:cNvPr id="19" name="Text 17"/>
          <p:cNvSpPr/>
          <p:nvPr/>
        </p:nvSpPr>
        <p:spPr>
          <a:xfrm>
            <a:off x="411479" y="3310128"/>
            <a:ext cx="3613303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1400" noProof="1">
                <a:solidFill>
                  <a:srgbClr val="E8ECF4"/>
                </a:solidFill>
              </a:rPr>
              <a:t>Le coordinate GPS aprono a visualizzazioni su mappa e modelli spaziali </a:t>
            </a:r>
            <a:br>
              <a:rPr lang="it-IT" sz="1400" noProof="1">
                <a:solidFill>
                  <a:srgbClr val="E8ECF4"/>
                </a:solidFill>
              </a:rPr>
            </a:br>
            <a:r>
              <a:rPr lang="it-IT" sz="1400" noProof="1">
                <a:solidFill>
                  <a:srgbClr val="E8ECF4"/>
                </a:solidFill>
              </a:rPr>
              <a:t>— es. zone più pericolose.</a:t>
            </a:r>
            <a:endParaRPr lang="it-IT" sz="1400" noProof="1"/>
          </a:p>
        </p:txBody>
      </p:sp>
      <p:sp>
        <p:nvSpPr>
          <p:cNvPr id="20" name="Shape 18"/>
          <p:cNvSpPr/>
          <p:nvPr/>
        </p:nvSpPr>
        <p:spPr>
          <a:xfrm>
            <a:off x="4518874" y="2834640"/>
            <a:ext cx="4350806" cy="1783080"/>
          </a:xfrm>
          <a:prstGeom prst="rect">
            <a:avLst/>
          </a:prstGeom>
          <a:solidFill>
            <a:srgbClr val="252C56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21" name="Shape 19"/>
          <p:cNvSpPr/>
          <p:nvPr/>
        </p:nvSpPr>
        <p:spPr>
          <a:xfrm>
            <a:off x="4464010" y="2834640"/>
            <a:ext cx="54864" cy="1783080"/>
          </a:xfrm>
          <a:prstGeom prst="rect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22" name="Text 20"/>
          <p:cNvSpPr/>
          <p:nvPr/>
        </p:nvSpPr>
        <p:spPr>
          <a:xfrm>
            <a:off x="4778305" y="2944368"/>
            <a:ext cx="39999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b="1" noProof="1">
                <a:solidFill>
                  <a:srgbClr val="F2C14E"/>
                </a:solidFill>
              </a:rPr>
              <a:t> Serie Temporale</a:t>
            </a:r>
            <a:endParaRPr lang="it-IT" noProof="1"/>
          </a:p>
        </p:txBody>
      </p:sp>
      <p:sp>
        <p:nvSpPr>
          <p:cNvPr id="23" name="Text 21"/>
          <p:cNvSpPr/>
          <p:nvPr/>
        </p:nvSpPr>
        <p:spPr>
          <a:xfrm>
            <a:off x="4778305" y="3310128"/>
            <a:ext cx="399993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1400" noProof="1">
                <a:solidFill>
                  <a:srgbClr val="E8ECF4"/>
                </a:solidFill>
              </a:rPr>
              <a:t>14 anni di dati permettono analisi di trend, stagionalità, e correlazioni con eventi esterni (COVID-19, lockdown 2020–21).</a:t>
            </a:r>
            <a:endParaRPr lang="it-IT" sz="1400" noProof="1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969B89-3F19-7437-4463-BA81870DE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0">
            <a:extLst>
              <a:ext uri="{FF2B5EF4-FFF2-40B4-BE49-F238E27FC236}">
                <a16:creationId xmlns:a16="http://schemas.microsoft.com/office/drawing/2014/main" id="{5352CA86-BB9D-DD6D-83D5-B7927083E4AE}"/>
              </a:ext>
            </a:extLst>
          </p:cNvPr>
          <p:cNvSpPr/>
          <p:nvPr/>
        </p:nvSpPr>
        <p:spPr>
          <a:xfrm>
            <a:off x="-1" y="621792"/>
            <a:ext cx="9144000" cy="4615226"/>
          </a:xfrm>
          <a:prstGeom prst="rect">
            <a:avLst/>
          </a:prstGeom>
          <a:solidFill>
            <a:srgbClr val="191F3A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F5C49541-E982-CA74-71E3-01DE614C6B2C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52C56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5CBC422-F8D0-5C5C-DF29-E17D5AC3766D}"/>
              </a:ext>
            </a:extLst>
          </p:cNvPr>
          <p:cNvSpPr/>
          <p:nvPr/>
        </p:nvSpPr>
        <p:spPr>
          <a:xfrm>
            <a:off x="457200" y="731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2400" b="1" noProof="1">
                <a:solidFill>
                  <a:srgbClr val="FFFFFF"/>
                </a:solidFill>
              </a:rPr>
              <a:t>Esempio analisi</a:t>
            </a:r>
            <a:endParaRPr lang="it-IT" sz="2400" noProof="1"/>
          </a:p>
        </p:txBody>
      </p:sp>
      <p:pic>
        <p:nvPicPr>
          <p:cNvPr id="13" name="Immagine 12">
            <a:extLst>
              <a:ext uri="{FF2B5EF4-FFF2-40B4-BE49-F238E27FC236}">
                <a16:creationId xmlns:a16="http://schemas.microsoft.com/office/drawing/2014/main" id="{F48F2441-C904-7AF3-C2DF-37D134004D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306" y="685800"/>
            <a:ext cx="7641388" cy="4556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89815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CF13F-7885-F3E1-F9A2-B05BD0F459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0">
            <a:extLst>
              <a:ext uri="{FF2B5EF4-FFF2-40B4-BE49-F238E27FC236}">
                <a16:creationId xmlns:a16="http://schemas.microsoft.com/office/drawing/2014/main" id="{C7697264-9901-8C10-0A87-5B798ED2289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" y="621792"/>
            <a:ext cx="9144000" cy="4615226"/>
          </a:xfrm>
          <a:prstGeom prst="rect">
            <a:avLst/>
          </a:prstGeom>
          <a:solidFill>
            <a:srgbClr val="191F3A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DCC890A3-F509-E412-E067-D4DF201C2AD8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52C56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92F9790-356A-A98F-EE88-3DEFD287B6F5}"/>
              </a:ext>
            </a:extLst>
          </p:cNvPr>
          <p:cNvSpPr/>
          <p:nvPr/>
        </p:nvSpPr>
        <p:spPr>
          <a:xfrm>
            <a:off x="457200" y="731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it-IT" sz="2400" b="1" noProof="1">
                <a:solidFill>
                  <a:srgbClr val="FFFFFF"/>
                </a:solidFill>
              </a:rPr>
              <a:t>Possibili analisi future</a:t>
            </a:r>
            <a:endParaRPr lang="it-IT" sz="2400" noProof="1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344068D8-59DA-8A7D-FDE1-07382016367F}"/>
              </a:ext>
            </a:extLst>
          </p:cNvPr>
          <p:cNvSpPr txBox="1"/>
          <p:nvPr/>
        </p:nvSpPr>
        <p:spPr>
          <a:xfrm>
            <a:off x="590549" y="1058918"/>
            <a:ext cx="79629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it-CH" dirty="0">
                <a:solidFill>
                  <a:schemeClr val="bg1"/>
                </a:solidFill>
              </a:rPr>
              <a:t>DataMaps con relative posizioni d’incidenti </a:t>
            </a:r>
            <a:r>
              <a:rPr lang="it-CH" sz="1200" dirty="0">
                <a:solidFill>
                  <a:schemeClr val="bg1">
                    <a:lumMod val="85000"/>
                  </a:schemeClr>
                </a:solidFill>
              </a:rPr>
              <a:t>(abbiamo bisogno di aiuto per farlo)</a:t>
            </a:r>
          </a:p>
          <a:p>
            <a:pPr marL="342900" indent="-342900">
              <a:buFont typeface="+mj-lt"/>
              <a:buAutoNum type="arabicPeriod"/>
            </a:pPr>
            <a:r>
              <a:rPr lang="it-CH" dirty="0">
                <a:solidFill>
                  <a:schemeClr val="bg1"/>
                </a:solidFill>
              </a:rPr>
              <a:t>Correlazione gravità incidenti </a:t>
            </a:r>
            <a:r>
              <a:rPr lang="it-CH" dirty="0">
                <a:solidFill>
                  <a:schemeClr val="bg1"/>
                </a:solidFill>
                <a:sym typeface="Wingdings" pitchFamily="2" charset="2"/>
              </a:rPr>
              <a:t></a:t>
            </a:r>
            <a:r>
              <a:rPr lang="it-CH" dirty="0">
                <a:solidFill>
                  <a:schemeClr val="bg1"/>
                </a:solidFill>
              </a:rPr>
              <a:t> tipo di strada / posizione / moto-bici coinvolte</a:t>
            </a:r>
          </a:p>
          <a:p>
            <a:pPr marL="342900" indent="-342900">
              <a:buFont typeface="+mj-lt"/>
              <a:buAutoNum type="arabicPeriod"/>
            </a:pPr>
            <a:r>
              <a:rPr lang="it-CH" dirty="0">
                <a:solidFill>
                  <a:schemeClr val="bg1"/>
                </a:solidFill>
              </a:rPr>
              <a:t>Trend estate/inverno (es. strade più pericolose con la neve)</a:t>
            </a:r>
          </a:p>
          <a:p>
            <a:pPr marL="342900" indent="-342900">
              <a:buFont typeface="+mj-lt"/>
              <a:buAutoNum type="arabicPeriod"/>
            </a:pPr>
            <a:endParaRPr lang="it-CH" dirty="0">
              <a:solidFill>
                <a:schemeClr val="bg1"/>
              </a:solidFill>
            </a:endParaRPr>
          </a:p>
          <a:p>
            <a:r>
              <a:rPr lang="it-CH" dirty="0">
                <a:solidFill>
                  <a:schemeClr val="bg1"/>
                </a:solidFill>
              </a:rPr>
              <a:t>…</a:t>
            </a:r>
          </a:p>
          <a:p>
            <a:endParaRPr lang="it-CH" dirty="0">
              <a:solidFill>
                <a:schemeClr val="bg1"/>
              </a:solidFill>
            </a:endParaRPr>
          </a:p>
          <a:p>
            <a:r>
              <a:rPr lang="it-CH" dirty="0">
                <a:solidFill>
                  <a:schemeClr val="bg1"/>
                </a:solidFill>
              </a:rPr>
              <a:t>Consigli? Richieste?</a:t>
            </a:r>
          </a:p>
          <a:p>
            <a:pPr marL="342900" indent="-342900">
              <a:buFont typeface="+mj-lt"/>
              <a:buAutoNum type="arabicPeriod"/>
            </a:pPr>
            <a:endParaRPr lang="it-CH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5280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0142A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84855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4" name="Shape 2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it-IT" noProof="1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it-IT" sz="3800" b="1" noProof="1">
                <a:solidFill>
                  <a:srgbClr val="FFFFFF"/>
                </a:solidFill>
              </a:rPr>
              <a:t>Un Dataset, Infinite Storie</a:t>
            </a:r>
            <a:endParaRPr lang="it-IT" sz="3800" noProof="1"/>
          </a:p>
        </p:txBody>
      </p:sp>
      <p:sp>
        <p:nvSpPr>
          <p:cNvPr id="6" name="Text 4"/>
          <p:cNvSpPr/>
          <p:nvPr/>
        </p:nvSpPr>
        <p:spPr>
          <a:xfrm>
            <a:off x="914400" y="22860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it-IT" sz="1700" noProof="1">
                <a:solidFill>
                  <a:srgbClr val="F2C14E"/>
                </a:solidFill>
              </a:rPr>
              <a:t>Ogni record è un incidente reale. L'analisi dei dati può contribuire</a:t>
            </a:r>
            <a:endParaRPr lang="it-IT" sz="1700" noProof="1"/>
          </a:p>
          <a:p>
            <a:pPr marL="0" indent="0" algn="ctr">
              <a:buNone/>
            </a:pPr>
            <a:r>
              <a:rPr lang="it-IT" sz="1700" noProof="1">
                <a:solidFill>
                  <a:srgbClr val="F2C14E"/>
                </a:solidFill>
              </a:rPr>
              <a:t>a rendere le strade più sicure.</a:t>
            </a:r>
            <a:endParaRPr lang="it-IT" sz="1700" noProof="1"/>
          </a:p>
        </p:txBody>
      </p:sp>
      <p:sp>
        <p:nvSpPr>
          <p:cNvPr id="7" name="Text 5"/>
          <p:cNvSpPr/>
          <p:nvPr/>
        </p:nvSpPr>
        <p:spPr>
          <a:xfrm>
            <a:off x="1828800" y="3104388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it-IT" sz="1300" noProof="1">
                <a:solidFill>
                  <a:srgbClr val="E8ECF4"/>
                </a:solidFill>
              </a:rPr>
              <a:t> Dataset reale, ricco e multi-dimensionale</a:t>
            </a:r>
            <a:endParaRPr lang="it-IT" sz="1300" noProof="1"/>
          </a:p>
        </p:txBody>
      </p:sp>
      <p:sp>
        <p:nvSpPr>
          <p:cNvPr id="8" name="Text 6"/>
          <p:cNvSpPr/>
          <p:nvPr/>
        </p:nvSpPr>
        <p:spPr>
          <a:xfrm>
            <a:off x="1828800" y="3451860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it-IT" sz="1300" noProof="1">
                <a:solidFill>
                  <a:srgbClr val="E8ECF4"/>
                </a:solidFill>
              </a:rPr>
              <a:t> Obiettivi chiari: classificazione, clustering, forecasting</a:t>
            </a:r>
            <a:endParaRPr lang="it-IT" sz="1300" noProof="1"/>
          </a:p>
        </p:txBody>
      </p:sp>
      <p:sp>
        <p:nvSpPr>
          <p:cNvPr id="9" name="Text 7"/>
          <p:cNvSpPr/>
          <p:nvPr/>
        </p:nvSpPr>
        <p:spPr>
          <a:xfrm>
            <a:off x="1828800" y="3799332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it-IT" sz="1300" noProof="1">
                <a:solidFill>
                  <a:srgbClr val="E8ECF4"/>
                </a:solidFill>
              </a:rPr>
              <a:t> Rilevanza sociale: sicurezza stradale</a:t>
            </a:r>
            <a:endParaRPr lang="it-IT" sz="1300" noProof="1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159</TotalTime>
  <Words>385</Words>
  <Application>Microsoft Macintosh PowerPoint</Application>
  <PresentationFormat>Presentazione su schermo (16:9)</PresentationFormat>
  <Paragraphs>65</Paragraphs>
  <Slides>7</Slides>
  <Notes>7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7</vt:i4>
      </vt:variant>
    </vt:vector>
  </HeadingPairs>
  <TitlesOfParts>
    <vt:vector size="11" baseType="lpstr">
      <vt:lpstr>Arial</vt:lpstr>
      <vt:lpstr>Calibri</vt:lpstr>
      <vt:lpstr>Wingdings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Analisi Incidenti Stradali – Progetto Data Science</dc:title>
  <dc:subject>PptxGenJS Presentation</dc:subject>
  <dc:creator>PptxGenJS</dc:creator>
  <cp:lastModifiedBy>Pezzolla Andrea</cp:lastModifiedBy>
  <cp:revision>10</cp:revision>
  <dcterms:created xsi:type="dcterms:W3CDTF">2026-04-13T09:56:12Z</dcterms:created>
  <dcterms:modified xsi:type="dcterms:W3CDTF">2026-04-16T09:02:39Z</dcterms:modified>
</cp:coreProperties>
</file>