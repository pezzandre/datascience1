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64" r:id="rId5"/>
    <p:sldId id="266" r:id="rId6"/>
    <p:sldId id="268" r:id="rId7"/>
    <p:sldId id="269" r:id="rId8"/>
    <p:sldId id="267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E54"/>
    <a:srgbClr val="19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20"/>
    <p:restoredTop sz="83677"/>
  </p:normalViewPr>
  <p:slideViewPr>
    <p:cSldViewPr snapToGrid="0" snapToObjects="1">
      <p:cViewPr varScale="1">
        <p:scale>
          <a:sx n="250" d="100"/>
          <a:sy n="250" d="100"/>
        </p:scale>
        <p:origin x="1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7894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le </a:t>
            </a:r>
            <a:r>
              <a:rPr lang="en-US" dirty="0" err="1"/>
              <a:t>nostre</a:t>
            </a:r>
            <a:r>
              <a:rPr lang="en-US" dirty="0"/>
              <a:t> </a:t>
            </a:r>
            <a:r>
              <a:rPr lang="en-US" dirty="0" err="1"/>
              <a:t>statistiche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state </a:t>
            </a:r>
            <a:r>
              <a:rPr lang="en-US" dirty="0" err="1"/>
              <a:t>fatte</a:t>
            </a:r>
            <a:r>
              <a:rPr lang="en-US" dirty="0"/>
              <a:t> con la media di </a:t>
            </a:r>
            <a:r>
              <a:rPr lang="en-US" dirty="0" err="1"/>
              <a:t>incidenti</a:t>
            </a:r>
            <a:r>
              <a:rPr lang="en-US" dirty="0"/>
              <a:t> </a:t>
            </a:r>
            <a:r>
              <a:rPr lang="en-US" dirty="0" err="1"/>
              <a:t>all’anno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78151-263C-509A-E5C7-56F5DBE5C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79EBB-3E8E-424E-E9EC-F32600418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725AE-98AF-3E78-A134-7675206077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9B9AB-B6CB-D145-CAB7-2799A8FA8C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645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EC2BB-15E5-FA21-75EB-A7D786CDA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4F71E0-2931-6CF8-7F16-2C339DF11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78643-588C-6796-7372-293632591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7CF96-787A-C50B-B4ED-03886E0E8A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1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3CA8-555A-1CE2-3880-9F683345E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6349FD-55C8-6E28-AF6A-723DF4BB4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AF3B71-59F9-4E52-8BB0-80ED6238A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29DE-AAFA-3E08-E850-CEFBC99BD1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561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671C3-B965-7C4A-479F-CE3442249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99E95B-7A91-A42D-9C11-A7CBF7D80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45FBF-A5F3-2436-E155-CCD19BD02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9C6FE-5561-6834-478D-D1239F85A8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43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035-FAC1-3AAD-7638-A0A17D05A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476EC7-C0E4-64E2-EDFC-3F84A1DF8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890D6-4CE5-CD6D-340C-60511AA0F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30BE7-C76E-E099-B632-D8DD151603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586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D0921-89D2-C76D-A8FA-527096ED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8F594A-6B18-0B7E-9A09-BCB933201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1B534-E97C-E947-6355-F2D4DA927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88A56-6BA4-4E5F-FC96-E8A61AAC93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5102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degli Incidenti Stradali</a:t>
            </a:r>
          </a:p>
          <a:p>
            <a:pPr algn="ctr"/>
            <a:r>
              <a:rPr lang="it-IT" noProof="1">
                <a:solidFill>
                  <a:schemeClr val="bg1">
                    <a:lumMod val="85000"/>
                  </a:schemeClr>
                </a:solidFill>
              </a:rPr>
              <a:t>Cantone Basilea Città - opendata.swiss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b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noProof="1">
                <a:solidFill>
                  <a:srgbClr val="F5A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Giovanni Russo</a:t>
            </a:r>
            <a:endParaRPr lang="it-IT" sz="2200" noProof="1">
              <a:solidFill>
                <a:srgbClr val="F5AE54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6" name="Text 4"/>
          <p:cNvSpPr/>
          <p:nvPr/>
        </p:nvSpPr>
        <p:spPr>
          <a:xfrm>
            <a:off x="365760" y="29718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9BA3C2"/>
                </a:solidFill>
              </a:rPr>
              <a:t>Dataset: Incidenti stradali –  2011 – 2024 </a:t>
            </a:r>
            <a:endParaRPr lang="it-IT" sz="1300" noProof="1"/>
          </a:p>
        </p:txBody>
      </p:sp>
      <p:sp>
        <p:nvSpPr>
          <p:cNvPr id="7" name="Shape 5"/>
          <p:cNvSpPr/>
          <p:nvPr/>
        </p:nvSpPr>
        <p:spPr>
          <a:xfrm>
            <a:off x="100584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8" name="Text 6"/>
          <p:cNvSpPr/>
          <p:nvPr/>
        </p:nvSpPr>
        <p:spPr>
          <a:xfrm>
            <a:off x="100584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11.383</a:t>
            </a:r>
            <a:endParaRPr lang="it-IT" sz="2600" noProof="1"/>
          </a:p>
        </p:txBody>
      </p:sp>
      <p:sp>
        <p:nvSpPr>
          <p:cNvPr id="9" name="Text 7"/>
          <p:cNvSpPr/>
          <p:nvPr/>
        </p:nvSpPr>
        <p:spPr>
          <a:xfrm>
            <a:off x="100584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Record totali</a:t>
            </a:r>
            <a:endParaRPr lang="it-IT" sz="1100" noProof="1"/>
          </a:p>
        </p:txBody>
      </p:sp>
      <p:sp>
        <p:nvSpPr>
          <p:cNvPr id="10" name="Shape 8"/>
          <p:cNvSpPr/>
          <p:nvPr/>
        </p:nvSpPr>
        <p:spPr>
          <a:xfrm>
            <a:off x="356616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1" name="Text 9"/>
          <p:cNvSpPr/>
          <p:nvPr/>
        </p:nvSpPr>
        <p:spPr>
          <a:xfrm>
            <a:off x="356616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14</a:t>
            </a:r>
            <a:endParaRPr lang="it-IT" sz="2600" noProof="1"/>
          </a:p>
        </p:txBody>
      </p:sp>
      <p:sp>
        <p:nvSpPr>
          <p:cNvPr id="12" name="Text 10"/>
          <p:cNvSpPr/>
          <p:nvPr/>
        </p:nvSpPr>
        <p:spPr>
          <a:xfrm>
            <a:off x="356616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Anni coperti</a:t>
            </a:r>
            <a:endParaRPr lang="it-IT" sz="1100" noProof="1"/>
          </a:p>
        </p:txBody>
      </p:sp>
      <p:sp>
        <p:nvSpPr>
          <p:cNvPr id="13" name="Shape 11"/>
          <p:cNvSpPr/>
          <p:nvPr/>
        </p:nvSpPr>
        <p:spPr>
          <a:xfrm>
            <a:off x="612648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13</a:t>
            </a:r>
            <a:endParaRPr lang="it-IT" sz="2600" noProof="1"/>
          </a:p>
        </p:txBody>
      </p:sp>
      <p:sp>
        <p:nvSpPr>
          <p:cNvPr id="15" name="Text 13"/>
          <p:cNvSpPr/>
          <p:nvPr/>
        </p:nvSpPr>
        <p:spPr>
          <a:xfrm>
            <a:off x="612648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Variabili</a:t>
            </a:r>
            <a:endParaRPr lang="it-IT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it-IT" sz="2600" noProof="1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36576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600" b="1" noProof="1">
                <a:solidFill>
                  <a:srgbClr val="F2C14E"/>
                </a:solidFill>
              </a:rPr>
              <a:t>Cosa contiene?</a:t>
            </a:r>
            <a:endParaRPr lang="it-IT" sz="1600" noProof="1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📍  Coordinate geografiche </a:t>
            </a:r>
            <a:endParaRPr lang="it-IT" sz="1200" noProof="1"/>
          </a:p>
        </p:txBody>
      </p:sp>
      <p:sp>
        <p:nvSpPr>
          <p:cNvPr id="7" name="Text 5"/>
          <p:cNvSpPr/>
          <p:nvPr/>
        </p:nvSpPr>
        <p:spPr>
          <a:xfrm>
            <a:off x="502920" y="188366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🆔  ID univoco per ogni incidente</a:t>
            </a:r>
            <a:endParaRPr lang="it-IT" sz="1200" noProof="1"/>
          </a:p>
        </p:txBody>
      </p:sp>
      <p:sp>
        <p:nvSpPr>
          <p:cNvPr id="8" name="Text 6"/>
          <p:cNvSpPr/>
          <p:nvPr/>
        </p:nvSpPr>
        <p:spPr>
          <a:xfrm>
            <a:off x="502920" y="22585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🚗  Tipo di incidente (9 categorie)</a:t>
            </a:r>
            <a:endParaRPr lang="it-IT" sz="1200" noProof="1"/>
          </a:p>
        </p:txBody>
      </p:sp>
      <p:sp>
        <p:nvSpPr>
          <p:cNvPr id="9" name="Text 7"/>
          <p:cNvSpPr/>
          <p:nvPr/>
        </p:nvSpPr>
        <p:spPr>
          <a:xfrm>
            <a:off x="502920" y="263347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⚠️  Gravità (Nessun ferito / Feriti lievi - gravi / Morti)</a:t>
            </a:r>
            <a:endParaRPr lang="it-IT" sz="1200" noProof="1"/>
          </a:p>
        </p:txBody>
      </p:sp>
      <p:sp>
        <p:nvSpPr>
          <p:cNvPr id="10" name="Text 8"/>
          <p:cNvSpPr/>
          <p:nvPr/>
        </p:nvSpPr>
        <p:spPr>
          <a:xfrm>
            <a:off x="502920" y="300837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📅  Anno, Mese, Ora dell'incidente</a:t>
            </a:r>
            <a:endParaRPr lang="it-IT" sz="1200" noProof="1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📆  Giorno della settimana</a:t>
            </a:r>
            <a:endParaRPr lang="it-IT" sz="1200" noProof="1"/>
          </a:p>
        </p:txBody>
      </p:sp>
      <p:sp>
        <p:nvSpPr>
          <p:cNvPr id="12" name="Text 10"/>
          <p:cNvSpPr/>
          <p:nvPr/>
        </p:nvSpPr>
        <p:spPr>
          <a:xfrm>
            <a:off x="502920" y="375818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🛣️  Tipo di strada (Autobahn, Hauptstrasse…)</a:t>
            </a:r>
            <a:endParaRPr lang="it-IT" sz="1200" noProof="1"/>
          </a:p>
        </p:txBody>
      </p:sp>
      <p:sp>
        <p:nvSpPr>
          <p:cNvPr id="13" name="Text 11"/>
          <p:cNvSpPr/>
          <p:nvPr/>
        </p:nvSpPr>
        <p:spPr>
          <a:xfrm>
            <a:off x="502920" y="413308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🚶  Coinvolgimento pedoni / bici / moto</a:t>
            </a:r>
            <a:endParaRPr lang="it-IT" sz="1200" noProof="1"/>
          </a:p>
        </p:txBody>
      </p:sp>
      <p:sp>
        <p:nvSpPr>
          <p:cNvPr id="14" name="Shape 12"/>
          <p:cNvSpPr/>
          <p:nvPr/>
        </p:nvSpPr>
        <p:spPr>
          <a:xfrm>
            <a:off x="4709160" y="914400"/>
            <a:ext cx="4114800" cy="36576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600" b="1" noProof="1">
                <a:solidFill>
                  <a:srgbClr val="F2C14E"/>
                </a:solidFill>
              </a:rPr>
              <a:t>Numeri chiave</a:t>
            </a:r>
            <a:endParaRPr lang="it-IT" sz="1600" noProof="1"/>
          </a:p>
        </p:txBody>
      </p:sp>
      <p:sp>
        <p:nvSpPr>
          <p:cNvPr id="16" name="Shape 14"/>
          <p:cNvSpPr/>
          <p:nvPr/>
        </p:nvSpPr>
        <p:spPr>
          <a:xfrm>
            <a:off x="4800600" y="1508760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7" name="Text 15"/>
          <p:cNvSpPr/>
          <p:nvPr/>
        </p:nvSpPr>
        <p:spPr>
          <a:xfrm>
            <a:off x="4892040" y="154533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11.383</a:t>
            </a:r>
            <a:endParaRPr lang="it-IT" sz="2000" noProof="1"/>
          </a:p>
        </p:txBody>
      </p:sp>
      <p:sp>
        <p:nvSpPr>
          <p:cNvPr id="18" name="Text 16"/>
          <p:cNvSpPr/>
          <p:nvPr/>
        </p:nvSpPr>
        <p:spPr>
          <a:xfrm>
            <a:off x="6309360" y="1545336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Incidenti totali</a:t>
            </a:r>
            <a:endParaRPr lang="it-IT" sz="1200" noProof="1"/>
          </a:p>
        </p:txBody>
      </p:sp>
      <p:sp>
        <p:nvSpPr>
          <p:cNvPr id="19" name="Shape 17"/>
          <p:cNvSpPr/>
          <p:nvPr/>
        </p:nvSpPr>
        <p:spPr>
          <a:xfrm>
            <a:off x="4800600" y="2167128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0" name="Text 18"/>
          <p:cNvSpPr/>
          <p:nvPr/>
        </p:nvSpPr>
        <p:spPr>
          <a:xfrm>
            <a:off x="4892040" y="220370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6.620</a:t>
            </a:r>
            <a:endParaRPr lang="it-IT" sz="2000" noProof="1"/>
          </a:p>
        </p:txBody>
      </p:sp>
      <p:sp>
        <p:nvSpPr>
          <p:cNvPr id="21" name="Text 19"/>
          <p:cNvSpPr/>
          <p:nvPr/>
        </p:nvSpPr>
        <p:spPr>
          <a:xfrm>
            <a:off x="6309360" y="2203704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Solo danni materiali (58%)</a:t>
            </a:r>
            <a:endParaRPr lang="it-IT" sz="1200" noProof="1"/>
          </a:p>
        </p:txBody>
      </p:sp>
      <p:sp>
        <p:nvSpPr>
          <p:cNvPr id="22" name="Shape 20"/>
          <p:cNvSpPr/>
          <p:nvPr/>
        </p:nvSpPr>
        <p:spPr>
          <a:xfrm>
            <a:off x="4800600" y="2825496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3" name="Text 21"/>
          <p:cNvSpPr/>
          <p:nvPr/>
        </p:nvSpPr>
        <p:spPr>
          <a:xfrm>
            <a:off x="4892040" y="28620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3.422</a:t>
            </a:r>
            <a:endParaRPr lang="it-IT" sz="2000" noProof="1"/>
          </a:p>
        </p:txBody>
      </p:sp>
      <p:sp>
        <p:nvSpPr>
          <p:cNvPr id="24" name="Text 22"/>
          <p:cNvSpPr/>
          <p:nvPr/>
        </p:nvSpPr>
        <p:spPr>
          <a:xfrm>
            <a:off x="6309360" y="2862072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feriti lievi (30%)</a:t>
            </a:r>
            <a:endParaRPr lang="it-IT" sz="1200" noProof="1"/>
          </a:p>
        </p:txBody>
      </p:sp>
      <p:sp>
        <p:nvSpPr>
          <p:cNvPr id="25" name="Shape 23"/>
          <p:cNvSpPr/>
          <p:nvPr/>
        </p:nvSpPr>
        <p:spPr>
          <a:xfrm>
            <a:off x="4800600" y="3483864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6" name="Text 24"/>
          <p:cNvSpPr/>
          <p:nvPr/>
        </p:nvSpPr>
        <p:spPr>
          <a:xfrm>
            <a:off x="4892040" y="352044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1.299</a:t>
            </a:r>
            <a:endParaRPr lang="it-IT" sz="2000" noProof="1"/>
          </a:p>
        </p:txBody>
      </p:sp>
      <p:sp>
        <p:nvSpPr>
          <p:cNvPr id="27" name="Text 25"/>
          <p:cNvSpPr/>
          <p:nvPr/>
        </p:nvSpPr>
        <p:spPr>
          <a:xfrm>
            <a:off x="6309360" y="352044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feriti gravi (11%)</a:t>
            </a:r>
            <a:endParaRPr lang="it-IT" sz="1200" noProof="1"/>
          </a:p>
        </p:txBody>
      </p:sp>
      <p:sp>
        <p:nvSpPr>
          <p:cNvPr id="28" name="Shape 26"/>
          <p:cNvSpPr/>
          <p:nvPr/>
        </p:nvSpPr>
        <p:spPr>
          <a:xfrm>
            <a:off x="4800600" y="4142232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9" name="Text 27"/>
          <p:cNvSpPr/>
          <p:nvPr/>
        </p:nvSpPr>
        <p:spPr>
          <a:xfrm>
            <a:off x="4892040" y="417880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42</a:t>
            </a:r>
            <a:endParaRPr lang="it-IT" sz="2000" noProof="1"/>
          </a:p>
        </p:txBody>
      </p:sp>
      <p:sp>
        <p:nvSpPr>
          <p:cNvPr id="30" name="Text 28"/>
          <p:cNvSpPr/>
          <p:nvPr/>
        </p:nvSpPr>
        <p:spPr>
          <a:xfrm>
            <a:off x="6309360" y="4178808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esito mortale (&lt;1%)</a:t>
            </a:r>
            <a:endParaRPr lang="it-IT" sz="12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843D3-0904-DDED-54BA-4F49B09E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DE9C6C6E-690C-DE91-CFF0-7665D3599178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BD82511D-71B0-E73E-8FD9-A0C5CE92F1C8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5C6ACA-25FB-F7AA-8B72-4B2D41709DB6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Mappa di calore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F5A7FF5-21F1-79FD-FFED-2D206B40D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05" y="1041793"/>
            <a:ext cx="8241495" cy="3784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05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69B89-3F19-7437-4463-BA81870D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5352CA86-BB9D-DD6D-83D5-B7927083E4AE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F5C49541-E982-CA74-71E3-01DE614C6B2C}"/>
              </a:ext>
            </a:extLst>
          </p:cNvPr>
          <p:cNvSpPr/>
          <p:nvPr/>
        </p:nvSpPr>
        <p:spPr>
          <a:xfrm>
            <a:off x="-1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5CBC422-F8D0-5C5C-DF29-E17D5AC3766D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Grafico a torta </a:t>
            </a:r>
            <a:endParaRPr lang="it-IT" sz="2400" noProof="1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95F3B87-B0C5-F2C6-1B3A-EE9E058CE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27" y="1170432"/>
            <a:ext cx="8359745" cy="352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81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F174-11C5-60DC-C9DC-2B0A33ADB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B2111B05-F14B-3F22-D04B-AC1A44E0FE13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F4840C1-EFEF-819D-3C7C-7E8B68A9EDD2}"/>
              </a:ext>
            </a:extLst>
          </p:cNvPr>
          <p:cNvSpPr/>
          <p:nvPr/>
        </p:nvSpPr>
        <p:spPr>
          <a:xfrm>
            <a:off x="-1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66B2C1-428A-E13F-2BC9-5A72A1976746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Cartina incidenti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39A3A85-8A58-8B95-B8E3-015A195A6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905821"/>
            <a:ext cx="7772400" cy="404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81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D3B55-DEA1-D960-E8FD-C608A6490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30CC2D1F-896F-56A8-6523-3A144394B04B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DC75C6A-669D-A134-944B-DBCA93FD466F}"/>
              </a:ext>
            </a:extLst>
          </p:cNvPr>
          <p:cNvSpPr/>
          <p:nvPr/>
        </p:nvSpPr>
        <p:spPr>
          <a:xfrm>
            <a:off x="-2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ADFC6E-9D83-A8A6-BA90-594ED07ABCDC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Incidenti con bici, moto e pedoni </a:t>
            </a:r>
            <a:endParaRPr lang="it-IT" sz="2400" noProof="1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023D866-7972-8F4D-E19E-DD88AFAC7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31" y="1239012"/>
            <a:ext cx="8833938" cy="3369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686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3A90A-3F1E-BA13-F8D0-B0012BC69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98AE41F0-DBDB-1C07-E806-B05C9C39FD81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BFEA2320-A981-C829-78D0-8C237D9F306A}"/>
              </a:ext>
            </a:extLst>
          </p:cNvPr>
          <p:cNvSpPr/>
          <p:nvPr/>
        </p:nvSpPr>
        <p:spPr>
          <a:xfrm>
            <a:off x="-1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E2A1E0-56F4-C454-CD00-FC43D505980A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Correlazione strada – gravità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EA10926-DF94-789E-B722-0F99C2BAD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25" y="1082498"/>
            <a:ext cx="8863349" cy="369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747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51562-5C6C-825B-A78A-013504018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589D57A7-BEB6-0380-91AE-BFBED8A62E06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740B159-8658-D499-E2ED-7CEF2ED46D6F}"/>
              </a:ext>
            </a:extLst>
          </p:cNvPr>
          <p:cNvSpPr/>
          <p:nvPr/>
        </p:nvSpPr>
        <p:spPr>
          <a:xfrm>
            <a:off x="-1" y="4572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BD3D36C-B444-0C4D-6ED9-3D7CB860B68C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Incidenti solo auto vs pedoni, moto e bici</a:t>
            </a:r>
            <a:endParaRPr lang="it-IT" sz="2400" noProof="1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2886FB6-BE4B-884D-894F-0F8B828D0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557" y="1013375"/>
            <a:ext cx="8332886" cy="383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1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42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4" name="Shape 2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</a:rPr>
              <a:t>Un Dataset, Infinite Storie</a:t>
            </a:r>
            <a:endParaRPr lang="it-IT" sz="3800" noProof="1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Ogni record è un incidente reale. L'analisi dei dati può contribuire</a:t>
            </a:r>
            <a:endParaRPr lang="it-IT" sz="1700" noProof="1"/>
          </a:p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a rendere le strade più sicure.</a:t>
            </a:r>
            <a:endParaRPr lang="it-IT" sz="1700" noProof="1"/>
          </a:p>
        </p:txBody>
      </p:sp>
      <p:sp>
        <p:nvSpPr>
          <p:cNvPr id="7" name="Text 5"/>
          <p:cNvSpPr/>
          <p:nvPr/>
        </p:nvSpPr>
        <p:spPr>
          <a:xfrm>
            <a:off x="1828800" y="310438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Dataset reale, ricco e multi-dimensionale</a:t>
            </a:r>
            <a:endParaRPr lang="it-IT" sz="1300" noProof="1"/>
          </a:p>
        </p:txBody>
      </p:sp>
      <p:sp>
        <p:nvSpPr>
          <p:cNvPr id="8" name="Text 6"/>
          <p:cNvSpPr/>
          <p:nvPr/>
        </p:nvSpPr>
        <p:spPr>
          <a:xfrm>
            <a:off x="1828800" y="345186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Obiettivi chiari: classificazione, clustering, forecasting</a:t>
            </a:r>
            <a:endParaRPr lang="it-IT" sz="1300" noProof="1"/>
          </a:p>
        </p:txBody>
      </p:sp>
      <p:sp>
        <p:nvSpPr>
          <p:cNvPr id="9" name="Text 7"/>
          <p:cNvSpPr/>
          <p:nvPr/>
        </p:nvSpPr>
        <p:spPr>
          <a:xfrm>
            <a:off x="1828800" y="3799332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Rilevanza sociale: sicurezza stradale</a:t>
            </a:r>
            <a:endParaRPr lang="it-IT" sz="13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227</Words>
  <Application>Microsoft Macintosh PowerPoint</Application>
  <PresentationFormat>Presentazione su schermo (16:9)</PresentationFormat>
  <Paragraphs>53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Incidenti Stradali – Progetto Data Science</dc:title>
  <dc:subject>PptxGenJS Presentation</dc:subject>
  <dc:creator>PptxGenJS</dc:creator>
  <cp:lastModifiedBy>Pezzolla Andrea</cp:lastModifiedBy>
  <cp:revision>15</cp:revision>
  <dcterms:created xsi:type="dcterms:W3CDTF">2026-04-13T09:56:12Z</dcterms:created>
  <dcterms:modified xsi:type="dcterms:W3CDTF">2026-04-26T15:19:49Z</dcterms:modified>
</cp:coreProperties>
</file>