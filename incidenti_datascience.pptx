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4" r:id="rId5"/>
    <p:sldId id="263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E54"/>
    <a:srgbClr val="19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894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C2BB-15E5-FA21-75EB-A7D786CDA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F71E0-2931-6CF8-7F16-2C339DF11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78643-588C-6796-7372-293632591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7CF96-787A-C50B-B4ED-03886E0E8A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38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degli Incidenti Stradali</a:t>
            </a:r>
            <a:endParaRPr lang="it-IT" sz="3800" noProof="1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2200" noProof="1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br>
              <a:rPr lang="it-IT" sz="2200" noProof="1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it-IT" sz="1600" noProof="1">
                <a:solidFill>
                  <a:srgbClr val="F5A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Pezzolla &amp; Giovanni Russo</a:t>
            </a:r>
            <a:endParaRPr lang="it-IT" sz="2200" noProof="1">
              <a:solidFill>
                <a:srgbClr val="F5AE54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300" noProof="1">
                <a:solidFill>
                  <a:srgbClr val="9BA3C2"/>
                </a:solidFill>
              </a:rPr>
              <a:t>Dataset: Incidenti stradali – 11.383 record  |  2011 – 2024  |  13 variabili</a:t>
            </a:r>
            <a:endParaRPr lang="it-IT" sz="1300" noProof="1"/>
          </a:p>
        </p:txBody>
      </p:sp>
      <p:sp>
        <p:nvSpPr>
          <p:cNvPr id="7" name="Shape 5"/>
          <p:cNvSpPr/>
          <p:nvPr/>
        </p:nvSpPr>
        <p:spPr>
          <a:xfrm>
            <a:off x="1005840" y="3657600"/>
            <a:ext cx="2194560" cy="8686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it-IT" sz="2600" b="1" noProof="1">
                <a:solidFill>
                  <a:srgbClr val="E84855"/>
                </a:solidFill>
              </a:rPr>
              <a:t>11.383</a:t>
            </a:r>
            <a:endParaRPr lang="it-IT" sz="2600" noProof="1"/>
          </a:p>
        </p:txBody>
      </p:sp>
      <p:sp>
        <p:nvSpPr>
          <p:cNvPr id="9" name="Text 7"/>
          <p:cNvSpPr/>
          <p:nvPr/>
        </p:nvSpPr>
        <p:spPr>
          <a:xfrm>
            <a:off x="1005840" y="4133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100" noProof="1">
                <a:solidFill>
                  <a:srgbClr val="9BA3C2"/>
                </a:solidFill>
              </a:rPr>
              <a:t>Record totali</a:t>
            </a:r>
            <a:endParaRPr lang="it-IT" sz="1100" noProof="1"/>
          </a:p>
        </p:txBody>
      </p:sp>
      <p:sp>
        <p:nvSpPr>
          <p:cNvPr id="10" name="Shape 8"/>
          <p:cNvSpPr/>
          <p:nvPr/>
        </p:nvSpPr>
        <p:spPr>
          <a:xfrm>
            <a:off x="3566160" y="3657600"/>
            <a:ext cx="2194560" cy="8686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1" name="Text 9"/>
          <p:cNvSpPr/>
          <p:nvPr/>
        </p:nvSpPr>
        <p:spPr>
          <a:xfrm>
            <a:off x="356616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it-IT" sz="2600" b="1" noProof="1">
                <a:solidFill>
                  <a:srgbClr val="E84855"/>
                </a:solidFill>
              </a:rPr>
              <a:t>14</a:t>
            </a:r>
            <a:endParaRPr lang="it-IT" sz="2600" noProof="1"/>
          </a:p>
        </p:txBody>
      </p:sp>
      <p:sp>
        <p:nvSpPr>
          <p:cNvPr id="12" name="Text 10"/>
          <p:cNvSpPr/>
          <p:nvPr/>
        </p:nvSpPr>
        <p:spPr>
          <a:xfrm>
            <a:off x="3566160" y="4133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100" noProof="1">
                <a:solidFill>
                  <a:srgbClr val="9BA3C2"/>
                </a:solidFill>
              </a:rPr>
              <a:t>Anni coperti</a:t>
            </a:r>
            <a:endParaRPr lang="it-IT" sz="1100" noProof="1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2194560" cy="8686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it-IT" sz="2600" b="1" noProof="1">
                <a:solidFill>
                  <a:srgbClr val="E84855"/>
                </a:solidFill>
              </a:rPr>
              <a:t>13</a:t>
            </a:r>
            <a:endParaRPr lang="it-IT" sz="2600" noProof="1"/>
          </a:p>
        </p:txBody>
      </p:sp>
      <p:sp>
        <p:nvSpPr>
          <p:cNvPr id="15" name="Text 13"/>
          <p:cNvSpPr/>
          <p:nvPr/>
        </p:nvSpPr>
        <p:spPr>
          <a:xfrm>
            <a:off x="6126480" y="4133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100" noProof="1">
                <a:solidFill>
                  <a:srgbClr val="9BA3C2"/>
                </a:solidFill>
              </a:rPr>
              <a:t>Variabili</a:t>
            </a:r>
            <a:endParaRPr lang="it-IT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 del Dataset</a:t>
            </a:r>
            <a:endParaRPr lang="it-IT" sz="2600" noProof="1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6576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600" b="1" noProof="1">
                <a:solidFill>
                  <a:srgbClr val="F2C14E"/>
                </a:solidFill>
              </a:rPr>
              <a:t>Cosa contiene?</a:t>
            </a:r>
            <a:endParaRPr lang="it-IT" sz="1600" noProof="1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📍  Coordinate geografiche (Geo Point)</a:t>
            </a:r>
            <a:endParaRPr lang="it-IT" sz="1200" noProof="1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🆔  ID univoco per ogni incidente</a:t>
            </a:r>
            <a:endParaRPr lang="it-IT" sz="1200" noProof="1"/>
          </a:p>
        </p:txBody>
      </p:sp>
      <p:sp>
        <p:nvSpPr>
          <p:cNvPr id="8" name="Text 6"/>
          <p:cNvSpPr/>
          <p:nvPr/>
        </p:nvSpPr>
        <p:spPr>
          <a:xfrm>
            <a:off x="502920" y="22585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🚗  Tipo di incidente (9 categorie)</a:t>
            </a:r>
            <a:endParaRPr lang="it-IT" sz="1200" noProof="1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⚠️  Gravità (Feriti gravi → Morti)</a:t>
            </a:r>
            <a:endParaRPr lang="it-IT" sz="1200" noProof="1"/>
          </a:p>
        </p:txBody>
      </p:sp>
      <p:sp>
        <p:nvSpPr>
          <p:cNvPr id="10" name="Text 8"/>
          <p:cNvSpPr/>
          <p:nvPr/>
        </p:nvSpPr>
        <p:spPr>
          <a:xfrm>
            <a:off x="502920" y="300837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📅  Anno, Mese, Ora dell'incidente</a:t>
            </a:r>
            <a:endParaRPr lang="it-IT" sz="1200" noProof="1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📆  Giorno della settimana</a:t>
            </a:r>
            <a:endParaRPr lang="it-IT" sz="1200" noProof="1"/>
          </a:p>
        </p:txBody>
      </p:sp>
      <p:sp>
        <p:nvSpPr>
          <p:cNvPr id="12" name="Text 10"/>
          <p:cNvSpPr/>
          <p:nvPr/>
        </p:nvSpPr>
        <p:spPr>
          <a:xfrm>
            <a:off x="502920" y="37581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🛣️  Tipo di strada (Autobahn, Hauptstrasse…)</a:t>
            </a:r>
            <a:endParaRPr lang="it-IT" sz="1200" noProof="1"/>
          </a:p>
        </p:txBody>
      </p:sp>
      <p:sp>
        <p:nvSpPr>
          <p:cNvPr id="13" name="Text 11"/>
          <p:cNvSpPr/>
          <p:nvPr/>
        </p:nvSpPr>
        <p:spPr>
          <a:xfrm>
            <a:off x="502920" y="41330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🚶  Coinvolgimento pedoni / bici / moto</a:t>
            </a:r>
            <a:endParaRPr lang="it-IT" sz="1200" noProof="1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114800" cy="36576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5" name="Text 13"/>
          <p:cNvSpPr/>
          <p:nvPr/>
        </p:nvSpPr>
        <p:spPr>
          <a:xfrm>
            <a:off x="484632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600" b="1" noProof="1">
                <a:solidFill>
                  <a:srgbClr val="F2C14E"/>
                </a:solidFill>
              </a:rPr>
              <a:t>Numeri chiave</a:t>
            </a:r>
            <a:endParaRPr lang="it-IT" sz="1600" noProof="1"/>
          </a:p>
        </p:txBody>
      </p:sp>
      <p:sp>
        <p:nvSpPr>
          <p:cNvPr id="16" name="Shape 14"/>
          <p:cNvSpPr/>
          <p:nvPr/>
        </p:nvSpPr>
        <p:spPr>
          <a:xfrm>
            <a:off x="4800600" y="1508760"/>
            <a:ext cx="3840480" cy="548640"/>
          </a:xfrm>
          <a:prstGeom prst="rect">
            <a:avLst/>
          </a:prstGeom>
          <a:solidFill>
            <a:srgbClr val="1E2347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7" name="Text 15"/>
          <p:cNvSpPr/>
          <p:nvPr/>
        </p:nvSpPr>
        <p:spPr>
          <a:xfrm>
            <a:off x="4892040" y="154533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000" b="1" noProof="1">
                <a:solidFill>
                  <a:srgbClr val="E84855"/>
                </a:solidFill>
              </a:rPr>
              <a:t>11.383</a:t>
            </a:r>
            <a:endParaRPr lang="it-IT" sz="2000" noProof="1"/>
          </a:p>
        </p:txBody>
      </p:sp>
      <p:sp>
        <p:nvSpPr>
          <p:cNvPr id="18" name="Text 16"/>
          <p:cNvSpPr/>
          <p:nvPr/>
        </p:nvSpPr>
        <p:spPr>
          <a:xfrm>
            <a:off x="6309360" y="154533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Incidenti totali</a:t>
            </a:r>
            <a:endParaRPr lang="it-IT" sz="1200" noProof="1"/>
          </a:p>
        </p:txBody>
      </p:sp>
      <p:sp>
        <p:nvSpPr>
          <p:cNvPr id="19" name="Shape 17"/>
          <p:cNvSpPr/>
          <p:nvPr/>
        </p:nvSpPr>
        <p:spPr>
          <a:xfrm>
            <a:off x="4800600" y="2167128"/>
            <a:ext cx="3840480" cy="548640"/>
          </a:xfrm>
          <a:prstGeom prst="rect">
            <a:avLst/>
          </a:prstGeom>
          <a:solidFill>
            <a:srgbClr val="1E2347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0" name="Text 18"/>
          <p:cNvSpPr/>
          <p:nvPr/>
        </p:nvSpPr>
        <p:spPr>
          <a:xfrm>
            <a:off x="4892040" y="220370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000" b="1" noProof="1">
                <a:solidFill>
                  <a:srgbClr val="E84855"/>
                </a:solidFill>
              </a:rPr>
              <a:t>6.620</a:t>
            </a:r>
            <a:endParaRPr lang="it-IT" sz="2000" noProof="1"/>
          </a:p>
        </p:txBody>
      </p:sp>
      <p:sp>
        <p:nvSpPr>
          <p:cNvPr id="21" name="Text 19"/>
          <p:cNvSpPr/>
          <p:nvPr/>
        </p:nvSpPr>
        <p:spPr>
          <a:xfrm>
            <a:off x="6309360" y="220370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Solo danni materiali (58%)</a:t>
            </a:r>
            <a:endParaRPr lang="it-IT" sz="1200" noProof="1"/>
          </a:p>
        </p:txBody>
      </p:sp>
      <p:sp>
        <p:nvSpPr>
          <p:cNvPr id="22" name="Shape 20"/>
          <p:cNvSpPr/>
          <p:nvPr/>
        </p:nvSpPr>
        <p:spPr>
          <a:xfrm>
            <a:off x="4800600" y="2825496"/>
            <a:ext cx="3840480" cy="548640"/>
          </a:xfrm>
          <a:prstGeom prst="rect">
            <a:avLst/>
          </a:prstGeom>
          <a:solidFill>
            <a:srgbClr val="1E2347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3" name="Text 21"/>
          <p:cNvSpPr/>
          <p:nvPr/>
        </p:nvSpPr>
        <p:spPr>
          <a:xfrm>
            <a:off x="4892040" y="28620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000" b="1" noProof="1">
                <a:solidFill>
                  <a:srgbClr val="E84855"/>
                </a:solidFill>
              </a:rPr>
              <a:t>3.422</a:t>
            </a:r>
            <a:endParaRPr lang="it-IT" sz="2000" noProof="1"/>
          </a:p>
        </p:txBody>
      </p:sp>
      <p:sp>
        <p:nvSpPr>
          <p:cNvPr id="24" name="Text 22"/>
          <p:cNvSpPr/>
          <p:nvPr/>
        </p:nvSpPr>
        <p:spPr>
          <a:xfrm>
            <a:off x="6309360" y="286207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Con feriti lievi (30%)</a:t>
            </a:r>
            <a:endParaRPr lang="it-IT" sz="1200" noProof="1"/>
          </a:p>
        </p:txBody>
      </p:sp>
      <p:sp>
        <p:nvSpPr>
          <p:cNvPr id="25" name="Shape 23"/>
          <p:cNvSpPr/>
          <p:nvPr/>
        </p:nvSpPr>
        <p:spPr>
          <a:xfrm>
            <a:off x="4800600" y="3483864"/>
            <a:ext cx="3840480" cy="548640"/>
          </a:xfrm>
          <a:prstGeom prst="rect">
            <a:avLst/>
          </a:prstGeom>
          <a:solidFill>
            <a:srgbClr val="1E2347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6" name="Text 24"/>
          <p:cNvSpPr/>
          <p:nvPr/>
        </p:nvSpPr>
        <p:spPr>
          <a:xfrm>
            <a:off x="4892040" y="35204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000" b="1" noProof="1">
                <a:solidFill>
                  <a:srgbClr val="E84855"/>
                </a:solidFill>
              </a:rPr>
              <a:t>1.299</a:t>
            </a:r>
            <a:endParaRPr lang="it-IT" sz="2000" noProof="1"/>
          </a:p>
        </p:txBody>
      </p:sp>
      <p:sp>
        <p:nvSpPr>
          <p:cNvPr id="27" name="Text 25"/>
          <p:cNvSpPr/>
          <p:nvPr/>
        </p:nvSpPr>
        <p:spPr>
          <a:xfrm>
            <a:off x="6309360" y="35204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Con feriti gravi (11%)</a:t>
            </a:r>
            <a:endParaRPr lang="it-IT" sz="1200" noProof="1"/>
          </a:p>
        </p:txBody>
      </p:sp>
      <p:sp>
        <p:nvSpPr>
          <p:cNvPr id="28" name="Shape 26"/>
          <p:cNvSpPr/>
          <p:nvPr/>
        </p:nvSpPr>
        <p:spPr>
          <a:xfrm>
            <a:off x="4800600" y="4142232"/>
            <a:ext cx="3840480" cy="548640"/>
          </a:xfrm>
          <a:prstGeom prst="rect">
            <a:avLst/>
          </a:prstGeom>
          <a:solidFill>
            <a:srgbClr val="1E2347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9" name="Text 27"/>
          <p:cNvSpPr/>
          <p:nvPr/>
        </p:nvSpPr>
        <p:spPr>
          <a:xfrm>
            <a:off x="4892040" y="41788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000" b="1" noProof="1">
                <a:solidFill>
                  <a:srgbClr val="E84855"/>
                </a:solidFill>
              </a:rPr>
              <a:t>42</a:t>
            </a:r>
            <a:endParaRPr lang="it-IT" sz="2000" noProof="1"/>
          </a:p>
        </p:txBody>
      </p:sp>
      <p:sp>
        <p:nvSpPr>
          <p:cNvPr id="30" name="Text 28"/>
          <p:cNvSpPr/>
          <p:nvPr/>
        </p:nvSpPr>
        <p:spPr>
          <a:xfrm>
            <a:off x="6309360" y="417880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200" noProof="1">
                <a:solidFill>
                  <a:srgbClr val="E8ECF4"/>
                </a:solidFill>
              </a:rPr>
              <a:t>Con esito mortale (&lt;1%)</a:t>
            </a:r>
            <a:endParaRPr lang="it-IT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Perché è un Ottimo Dataset per Data Science?</a:t>
            </a:r>
            <a:endParaRPr lang="it-IT" sz="2400" noProof="1"/>
          </a:p>
        </p:txBody>
      </p:sp>
      <p:sp>
        <p:nvSpPr>
          <p:cNvPr id="4" name="Shape 2"/>
          <p:cNvSpPr/>
          <p:nvPr/>
        </p:nvSpPr>
        <p:spPr>
          <a:xfrm>
            <a:off x="274319" y="868680"/>
            <a:ext cx="3930259" cy="17830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4864" cy="178308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6" name="Text 4"/>
          <p:cNvSpPr/>
          <p:nvPr/>
        </p:nvSpPr>
        <p:spPr>
          <a:xfrm>
            <a:off x="411479" y="978408"/>
            <a:ext cx="361330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300" b="1" noProof="1">
                <a:solidFill>
                  <a:srgbClr val="F2C14E"/>
                </a:solidFill>
              </a:rPr>
              <a:t>🔢  Ricco &amp; Reale</a:t>
            </a:r>
            <a:endParaRPr lang="it-IT" sz="1300" noProof="1"/>
          </a:p>
        </p:txBody>
      </p:sp>
      <p:sp>
        <p:nvSpPr>
          <p:cNvPr id="7" name="Text 5"/>
          <p:cNvSpPr/>
          <p:nvPr/>
        </p:nvSpPr>
        <p:spPr>
          <a:xfrm>
            <a:off x="411479" y="1344168"/>
            <a:ext cx="361330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050" noProof="1">
                <a:solidFill>
                  <a:srgbClr val="E8ECF4"/>
                </a:solidFill>
              </a:rPr>
              <a:t>11.000+ record reali su 14 anni. Senza rischi di scarsità di dati.</a:t>
            </a:r>
            <a:endParaRPr lang="it-IT" sz="1050" noProof="1"/>
          </a:p>
        </p:txBody>
      </p:sp>
      <p:sp>
        <p:nvSpPr>
          <p:cNvPr id="8" name="Shape 6"/>
          <p:cNvSpPr/>
          <p:nvPr/>
        </p:nvSpPr>
        <p:spPr>
          <a:xfrm>
            <a:off x="4518874" y="868680"/>
            <a:ext cx="4350806" cy="17830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9" name="Shape 7"/>
          <p:cNvSpPr/>
          <p:nvPr/>
        </p:nvSpPr>
        <p:spPr>
          <a:xfrm>
            <a:off x="4464010" y="868680"/>
            <a:ext cx="54864" cy="178308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0" name="Text 8"/>
          <p:cNvSpPr/>
          <p:nvPr/>
        </p:nvSpPr>
        <p:spPr>
          <a:xfrm>
            <a:off x="4778305" y="978408"/>
            <a:ext cx="399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300" b="1" noProof="1">
                <a:solidFill>
                  <a:srgbClr val="F2C14E"/>
                </a:solidFill>
              </a:rPr>
              <a:t>🗂️  Multi-Dimensionale</a:t>
            </a:r>
            <a:endParaRPr lang="it-IT" sz="1300" noProof="1"/>
          </a:p>
        </p:txBody>
      </p:sp>
      <p:sp>
        <p:nvSpPr>
          <p:cNvPr id="11" name="Text 9"/>
          <p:cNvSpPr/>
          <p:nvPr/>
        </p:nvSpPr>
        <p:spPr>
          <a:xfrm>
            <a:off x="4778305" y="1344168"/>
            <a:ext cx="39999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050" noProof="1">
                <a:solidFill>
                  <a:srgbClr val="E8ECF4"/>
                </a:solidFill>
              </a:rPr>
              <a:t>Combina dati temporali (ora, giorno, mese, anno), spaziali (coordinate GPS), categoriali e booleani</a:t>
            </a:r>
            <a:endParaRPr lang="it-IT" sz="1050" noProof="1"/>
          </a:p>
        </p:txBody>
      </p:sp>
      <p:sp>
        <p:nvSpPr>
          <p:cNvPr id="16" name="Shape 14"/>
          <p:cNvSpPr/>
          <p:nvPr/>
        </p:nvSpPr>
        <p:spPr>
          <a:xfrm>
            <a:off x="274319" y="2834640"/>
            <a:ext cx="3930259" cy="17830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54864" cy="178308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8" name="Text 16"/>
          <p:cNvSpPr/>
          <p:nvPr/>
        </p:nvSpPr>
        <p:spPr>
          <a:xfrm>
            <a:off x="411479" y="2944368"/>
            <a:ext cx="361330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300" b="1" noProof="1">
                <a:solidFill>
                  <a:srgbClr val="F2C14E"/>
                </a:solidFill>
              </a:rPr>
              <a:t>🌍  Dati Geografici</a:t>
            </a:r>
            <a:endParaRPr lang="it-IT" sz="1300" noProof="1"/>
          </a:p>
        </p:txBody>
      </p:sp>
      <p:sp>
        <p:nvSpPr>
          <p:cNvPr id="19" name="Text 17"/>
          <p:cNvSpPr/>
          <p:nvPr/>
        </p:nvSpPr>
        <p:spPr>
          <a:xfrm>
            <a:off x="411479" y="3310128"/>
            <a:ext cx="361330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050" noProof="1">
                <a:solidFill>
                  <a:srgbClr val="E8ECF4"/>
                </a:solidFill>
              </a:rPr>
              <a:t>Le coordinate GPS aprono a visualizzazioni su mappa e modelli spaziali </a:t>
            </a:r>
            <a:br>
              <a:rPr lang="it-IT" sz="1050" noProof="1">
                <a:solidFill>
                  <a:srgbClr val="E8ECF4"/>
                </a:solidFill>
              </a:rPr>
            </a:br>
            <a:r>
              <a:rPr lang="it-IT" sz="1050" noProof="1">
                <a:solidFill>
                  <a:srgbClr val="E8ECF4"/>
                </a:solidFill>
              </a:rPr>
              <a:t>— es. zone più pericolose.</a:t>
            </a:r>
            <a:endParaRPr lang="it-IT" sz="1050" noProof="1"/>
          </a:p>
        </p:txBody>
      </p:sp>
      <p:sp>
        <p:nvSpPr>
          <p:cNvPr id="20" name="Shape 18"/>
          <p:cNvSpPr/>
          <p:nvPr/>
        </p:nvSpPr>
        <p:spPr>
          <a:xfrm>
            <a:off x="4518874" y="2834640"/>
            <a:ext cx="4350806" cy="17830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1" name="Shape 19"/>
          <p:cNvSpPr/>
          <p:nvPr/>
        </p:nvSpPr>
        <p:spPr>
          <a:xfrm>
            <a:off x="4464010" y="2834640"/>
            <a:ext cx="54864" cy="178308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2" name="Text 20"/>
          <p:cNvSpPr/>
          <p:nvPr/>
        </p:nvSpPr>
        <p:spPr>
          <a:xfrm>
            <a:off x="4778305" y="2944368"/>
            <a:ext cx="399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300" b="1" noProof="1">
                <a:solidFill>
                  <a:srgbClr val="F2C14E"/>
                </a:solidFill>
              </a:rPr>
              <a:t>📈  Serie Temporale</a:t>
            </a:r>
            <a:endParaRPr lang="it-IT" sz="1300" noProof="1"/>
          </a:p>
        </p:txBody>
      </p:sp>
      <p:sp>
        <p:nvSpPr>
          <p:cNvPr id="23" name="Text 21"/>
          <p:cNvSpPr/>
          <p:nvPr/>
        </p:nvSpPr>
        <p:spPr>
          <a:xfrm>
            <a:off x="4778305" y="3310128"/>
            <a:ext cx="39999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050" noProof="1">
                <a:solidFill>
                  <a:srgbClr val="E8ECF4"/>
                </a:solidFill>
              </a:rPr>
              <a:t>14 anni di dati permettono analisi di trend, stagionalità, e correlazioni con eventi esterni (COVID-19, lockdown 2020–21).</a:t>
            </a:r>
            <a:endParaRPr lang="it-IT" sz="10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69B89-3F19-7437-4463-BA81870DE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5352CA86-BB9D-DD6D-83D5-B7927083E4AE}"/>
              </a:ext>
            </a:extLst>
          </p:cNvPr>
          <p:cNvSpPr/>
          <p:nvPr/>
        </p:nvSpPr>
        <p:spPr>
          <a:xfrm>
            <a:off x="-1" y="621792"/>
            <a:ext cx="9144000" cy="4615226"/>
          </a:xfrm>
          <a:prstGeom prst="rect">
            <a:avLst/>
          </a:prstGeom>
          <a:solidFill>
            <a:srgbClr val="191F3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5C49541-E982-CA74-71E3-01DE614C6B2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CBC422-F8D0-5C5C-DF29-E17D5AC3766D}"/>
              </a:ext>
            </a:extLst>
          </p:cNvPr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Esempio analisi</a:t>
            </a:r>
            <a:endParaRPr lang="it-IT" sz="2400" noProof="1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48F2441-C904-7AF3-C2DF-37D134004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43" y="942739"/>
            <a:ext cx="6466913" cy="385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81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42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3800" b="1" noProof="1">
                <a:solidFill>
                  <a:srgbClr val="FFFFFF"/>
                </a:solidFill>
              </a:rPr>
              <a:t>Un Dataset, Infinite Storie</a:t>
            </a:r>
            <a:endParaRPr lang="it-IT" sz="3800" noProof="1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700" noProof="1">
                <a:solidFill>
                  <a:srgbClr val="F2C14E"/>
                </a:solidFill>
              </a:rPr>
              <a:t>Ogni record è un incidente reale. L'analisi dei dati può contribuire</a:t>
            </a:r>
            <a:endParaRPr lang="it-IT" sz="1700" noProof="1"/>
          </a:p>
          <a:p>
            <a:pPr marL="0" indent="0" algn="ctr">
              <a:buNone/>
            </a:pPr>
            <a:r>
              <a:rPr lang="it-IT" sz="1700" noProof="1">
                <a:solidFill>
                  <a:srgbClr val="F2C14E"/>
                </a:solidFill>
              </a:rPr>
              <a:t>a rendere le strade più sicure.</a:t>
            </a:r>
            <a:endParaRPr lang="it-IT" sz="1700" noProof="1"/>
          </a:p>
        </p:txBody>
      </p:sp>
      <p:sp>
        <p:nvSpPr>
          <p:cNvPr id="7" name="Text 5"/>
          <p:cNvSpPr/>
          <p:nvPr/>
        </p:nvSpPr>
        <p:spPr>
          <a:xfrm>
            <a:off x="2286000" y="315468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300" noProof="1">
                <a:solidFill>
                  <a:srgbClr val="E8ECF4"/>
                </a:solidFill>
              </a:rPr>
              <a:t>✅  Dataset reale, ricco e multi-dimensionale</a:t>
            </a:r>
            <a:endParaRPr lang="it-IT" sz="1300" noProof="1"/>
          </a:p>
        </p:txBody>
      </p:sp>
      <p:sp>
        <p:nvSpPr>
          <p:cNvPr id="8" name="Text 6"/>
          <p:cNvSpPr/>
          <p:nvPr/>
        </p:nvSpPr>
        <p:spPr>
          <a:xfrm>
            <a:off x="2286000" y="35021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300" noProof="1">
                <a:solidFill>
                  <a:srgbClr val="E8ECF4"/>
                </a:solidFill>
              </a:rPr>
              <a:t>✅  Obiettivi chiari: classificazione, clustering, forecasting</a:t>
            </a:r>
            <a:endParaRPr lang="it-IT" sz="1300" noProof="1"/>
          </a:p>
        </p:txBody>
      </p:sp>
      <p:sp>
        <p:nvSpPr>
          <p:cNvPr id="9" name="Text 7"/>
          <p:cNvSpPr/>
          <p:nvPr/>
        </p:nvSpPr>
        <p:spPr>
          <a:xfrm>
            <a:off x="2286000" y="38496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300" noProof="1">
                <a:solidFill>
                  <a:srgbClr val="E8ECF4"/>
                </a:solidFill>
              </a:rPr>
              <a:t>✅  Rilevanza sociale: sicurezza stradale</a:t>
            </a:r>
            <a:endParaRPr lang="it-IT" sz="13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279</Words>
  <Application>Microsoft Macintosh PowerPoint</Application>
  <PresentationFormat>Presentazione su schermo (16:9)</PresentationFormat>
  <Paragraphs>51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Incidenti Stradali – Progetto Data Science</dc:title>
  <dc:subject>PptxGenJS Presentation</dc:subject>
  <dc:creator>PptxGenJS</dc:creator>
  <cp:lastModifiedBy>Pezzolla Andrea</cp:lastModifiedBy>
  <cp:revision>5</cp:revision>
  <dcterms:created xsi:type="dcterms:W3CDTF">2026-04-13T09:56:12Z</dcterms:created>
  <dcterms:modified xsi:type="dcterms:W3CDTF">2026-04-13T10:07:13Z</dcterms:modified>
</cp:coreProperties>
</file>